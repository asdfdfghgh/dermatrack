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12192000"/>
  <p:notesSz cx="6858000" cy="9144000"/>
  <p:embeddedFontLst>
    <p:embeddedFont>
      <p:font typeface="Roboto Thin"/>
      <p:regular r:id="rId19"/>
      <p:bold r:id="rId20"/>
      <p:italic r:id="rId21"/>
      <p:boldItalic r:id="rId22"/>
    </p:embeddedFont>
    <p:embeddedFont>
      <p:font typeface="Robot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ihtbbpd/2cAlzeBHZsXLZ/bNwT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3CF24D-C1D4-479B-AACB-CC22CA2CC7E3}">
  <a:tblStyle styleId="{123CF24D-C1D4-479B-AACB-CC22CA2CC7E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9BAD4DCC-C6C8-45AA-A3E1-CD54635BC7C7}"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Thin-bold.fntdata"/><Relationship Id="rId22" Type="http://schemas.openxmlformats.org/officeDocument/2006/relationships/font" Target="fonts/RobotoThin-boldItalic.fntdata"/><Relationship Id="rId21" Type="http://schemas.openxmlformats.org/officeDocument/2006/relationships/font" Target="fonts/RobotoThin-italic.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Thin-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0" name="Google Shape;80;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25ace02ada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25ace02ada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5ace02ada9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25ace02ada9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73d1165b1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73d1165b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5ace02ada9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25ace02ada9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5ace02ada9_0_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2" name="Google Shape;112;g25ace02ada9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5ace02ada9_0_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25ace02ada9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25ace02ada9_0_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8" name="Google Shape;148;g25ace02ada9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5ace02ada9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25ace02ada9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5ace02ada9_0_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g25ace02ada9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25ace02ada9_0_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g25ace02ada9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 name="Shape 7"/>
        <p:cNvGrpSpPr/>
        <p:nvPr/>
      </p:nvGrpSpPr>
      <p:grpSpPr>
        <a:xfrm>
          <a:off x="0" y="0"/>
          <a:ext cx="0" cy="0"/>
          <a:chOff x="0" y="0"/>
          <a:chExt cx="0" cy="0"/>
        </a:xfrm>
      </p:grpSpPr>
      <p:sp>
        <p:nvSpPr>
          <p:cNvPr id="8" name="Google Shape;8;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marR="0" rtl="0" algn="ctr">
              <a:lnSpc>
                <a:spcPct val="90000"/>
              </a:lnSpc>
              <a:spcBef>
                <a:spcPts val="0"/>
              </a:spcBef>
              <a:spcAft>
                <a:spcPts val="0"/>
              </a:spcAft>
              <a:buClr>
                <a:schemeClr val="dk1"/>
              </a:buClr>
              <a:buSzPts val="6000"/>
              <a:buFont typeface="Calibri"/>
              <a:buNone/>
              <a:defRPr b="0" i="0" sz="6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9" name="Google Shape;9;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rgbClr val="000000"/>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rgbClr val="000000"/>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rgbClr val="000000"/>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9pPr>
          </a:lstStyle>
          <a:p/>
        </p:txBody>
      </p:sp>
      <p:sp>
        <p:nvSpPr>
          <p:cNvPr id="10" name="Google Shape;10;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1" name="Google Shape;11;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2" name="Google Shape;12;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3" name="Shape 13"/>
        <p:cNvGrpSpPr/>
        <p:nvPr/>
      </p:nvGrpSpPr>
      <p:grpSpPr>
        <a:xfrm>
          <a:off x="0" y="0"/>
          <a:ext cx="0" cy="0"/>
          <a:chOff x="0" y="0"/>
          <a:chExt cx="0" cy="0"/>
        </a:xfrm>
      </p:grpSpPr>
      <p:sp>
        <p:nvSpPr>
          <p:cNvPr id="14" name="Google Shape;14;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5" name="Google Shape;15;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16" name="Google Shape;1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7" name="Google Shape;1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18" name="Google Shape;1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9" name="Google Shape;19;p5"/>
          <p:cNvCxnSpPr/>
          <p:nvPr/>
        </p:nvCxnSpPr>
        <p:spPr>
          <a:xfrm>
            <a:off x="3939989" y="803400"/>
            <a:ext cx="4312023" cy="0"/>
          </a:xfrm>
          <a:prstGeom prst="straightConnector1">
            <a:avLst/>
          </a:prstGeom>
          <a:noFill/>
          <a:ln cap="flat" cmpd="sng" w="19050">
            <a:solidFill>
              <a:schemeClr val="dk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20" name="Shape 2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6"/>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3" name="Google Shape;23;p6"/>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Arial"/>
                <a:ea typeface="Arial"/>
                <a:cs typeface="Arial"/>
                <a:sym typeface="Arial"/>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Arial"/>
                <a:ea typeface="Arial"/>
                <a:cs typeface="Arial"/>
                <a:sym typeface="Arial"/>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Arial"/>
                <a:ea typeface="Arial"/>
                <a:cs typeface="Arial"/>
                <a:sym typeface="Arial"/>
              </a:defRPr>
            </a:lvl9pPr>
          </a:lstStyle>
          <a:p/>
        </p:txBody>
      </p:sp>
      <p:sp>
        <p:nvSpPr>
          <p:cNvPr id="24" name="Google Shape;2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5" name="Google Shape;2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6" name="Google Shape;2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29" name="Google Shape;29;p7"/>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30" name="Google Shape;30;p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31" name="Google Shape;31;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2" name="Google Shape;32;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3" name="Google Shape;33;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4" name="Shape 34"/>
        <p:cNvGrpSpPr/>
        <p:nvPr/>
      </p:nvGrpSpPr>
      <p:grpSpPr>
        <a:xfrm>
          <a:off x="0" y="0"/>
          <a:ext cx="0" cy="0"/>
          <a:chOff x="0" y="0"/>
          <a:chExt cx="0" cy="0"/>
        </a:xfrm>
      </p:grpSpPr>
      <p:sp>
        <p:nvSpPr>
          <p:cNvPr id="35" name="Google Shape;35;p8"/>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36" name="Google Shape;36;p8"/>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9pPr>
          </a:lstStyle>
          <a:p/>
        </p:txBody>
      </p:sp>
      <p:sp>
        <p:nvSpPr>
          <p:cNvPr id="37" name="Google Shape;37;p8"/>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38" name="Google Shape;38;p8"/>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rgbClr val="000000"/>
                </a:solidFill>
                <a:latin typeface="Arial"/>
                <a:ea typeface="Arial"/>
                <a:cs typeface="Arial"/>
                <a:sym typeface="Arial"/>
              </a:defRPr>
            </a:lvl9pPr>
          </a:lstStyle>
          <a:p/>
        </p:txBody>
      </p:sp>
      <p:sp>
        <p:nvSpPr>
          <p:cNvPr id="39" name="Google Shape;39;p8"/>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40" name="Google Shape;40;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1" name="Google Shape;41;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2" name="Google Shape;42;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3" name="Shape 43"/>
        <p:cNvGrpSpPr/>
        <p:nvPr/>
      </p:nvGrpSpPr>
      <p:grpSpPr>
        <a:xfrm>
          <a:off x="0" y="0"/>
          <a:ext cx="0" cy="0"/>
          <a:chOff x="0" y="0"/>
          <a:chExt cx="0" cy="0"/>
        </a:xfrm>
      </p:grpSpPr>
      <p:sp>
        <p:nvSpPr>
          <p:cNvPr id="44" name="Google Shape;44;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5" name="Google Shape;4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6" name="Google Shape;46;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7" name="Google Shape;47;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0" name="Google Shape;5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1" name="Google Shape;5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2" name="Shape 52"/>
        <p:cNvGrpSpPr/>
        <p:nvPr/>
      </p:nvGrpSpPr>
      <p:grpSpPr>
        <a:xfrm>
          <a:off x="0" y="0"/>
          <a:ext cx="0" cy="0"/>
          <a:chOff x="0" y="0"/>
          <a:chExt cx="0" cy="0"/>
        </a:xfrm>
      </p:grpSpPr>
      <p:sp>
        <p:nvSpPr>
          <p:cNvPr id="53" name="Google Shape;53;p1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4" name="Google Shape;54;p11"/>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rgbClr val="000000"/>
                </a:solidFill>
                <a:latin typeface="Arial"/>
                <a:ea typeface="Arial"/>
                <a:cs typeface="Arial"/>
                <a:sym typeface="Arial"/>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rgbClr val="000000"/>
                </a:solidFill>
                <a:latin typeface="Arial"/>
                <a:ea typeface="Arial"/>
                <a:cs typeface="Arial"/>
                <a:sym typeface="Arial"/>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rgbClr val="000000"/>
                </a:solidFill>
                <a:latin typeface="Arial"/>
                <a:ea typeface="Arial"/>
                <a:cs typeface="Arial"/>
                <a:sym typeface="Arial"/>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rgbClr val="000000"/>
                </a:solidFill>
                <a:latin typeface="Arial"/>
                <a:ea typeface="Arial"/>
                <a:cs typeface="Arial"/>
                <a:sym typeface="Arial"/>
              </a:defRPr>
            </a:lvl9pPr>
          </a:lstStyle>
          <a:p/>
        </p:txBody>
      </p:sp>
      <p:sp>
        <p:nvSpPr>
          <p:cNvPr id="55" name="Google Shape;55;p11"/>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9pPr>
          </a:lstStyle>
          <a:p/>
        </p:txBody>
      </p:sp>
      <p:sp>
        <p:nvSpPr>
          <p:cNvPr id="56" name="Google Shape;56;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7" name="Google Shape;57;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58" name="Google Shape;58;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9" name="Shape 59"/>
        <p:cNvGrpSpPr/>
        <p:nvPr/>
      </p:nvGrpSpPr>
      <p:grpSpPr>
        <a:xfrm>
          <a:off x="0" y="0"/>
          <a:ext cx="0" cy="0"/>
          <a:chOff x="0" y="0"/>
          <a:chExt cx="0" cy="0"/>
        </a:xfrm>
      </p:grpSpPr>
      <p:sp>
        <p:nvSpPr>
          <p:cNvPr id="60" name="Google Shape;60;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1" name="Google Shape;61;p12"/>
          <p:cNvSpPr/>
          <p:nvPr>
            <p:ph idx="2" type="pic"/>
          </p:nvPr>
        </p:nvSpPr>
        <p:spPr>
          <a:xfrm>
            <a:off x="5183188" y="987425"/>
            <a:ext cx="6172200" cy="4873625"/>
          </a:xfrm>
          <a:prstGeom prst="rect">
            <a:avLst/>
          </a:prstGeom>
          <a:noFill/>
          <a:ln>
            <a:noFill/>
          </a:ln>
        </p:spPr>
      </p:sp>
      <p:sp>
        <p:nvSpPr>
          <p:cNvPr id="62" name="Google Shape;62;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rgbClr val="000000"/>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rgbClr val="000000"/>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rgbClr val="000000"/>
                </a:solidFill>
                <a:latin typeface="Arial"/>
                <a:ea typeface="Arial"/>
                <a:cs typeface="Arial"/>
                <a:sym typeface="Arial"/>
              </a:defRPr>
            </a:lvl9pPr>
          </a:lstStyle>
          <a:p/>
        </p:txBody>
      </p:sp>
      <p:sp>
        <p:nvSpPr>
          <p:cNvPr id="63" name="Google Shape;63;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4" name="Google Shape;64;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5" name="Google Shape;65;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6" name="Shape 66"/>
        <p:cNvGrpSpPr/>
        <p:nvPr/>
      </p:nvGrpSpPr>
      <p:grpSpPr>
        <a:xfrm>
          <a:off x="0" y="0"/>
          <a:ext cx="0" cy="0"/>
          <a:chOff x="0" y="0"/>
          <a:chExt cx="0" cy="0"/>
        </a:xfrm>
      </p:grpSpPr>
      <p:sp>
        <p:nvSpPr>
          <p:cNvPr id="67" name="Google Shape;6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68" name="Google Shape;68;p13"/>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69" name="Google Shape;69;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0" name="Google Shape;70;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1" name="Google Shape;71;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2" name="Shape 72"/>
        <p:cNvGrpSpPr/>
        <p:nvPr/>
      </p:nvGrpSpPr>
      <p:grpSpPr>
        <a:xfrm>
          <a:off x="0" y="0"/>
          <a:ext cx="0" cy="0"/>
          <a:chOff x="0" y="0"/>
          <a:chExt cx="0" cy="0"/>
        </a:xfrm>
      </p:grpSpPr>
      <p:sp>
        <p:nvSpPr>
          <p:cNvPr id="73" name="Google Shape;73;p14"/>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18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4" name="Google Shape;74;p14"/>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marR="0" rtl="0" algn="l">
              <a:lnSpc>
                <a:spcPct val="90000"/>
              </a:lnSpc>
              <a:spcBef>
                <a:spcPts val="10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1pPr>
            <a:lvl2pPr indent="-342900" lvl="1" marL="914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2pPr>
            <a:lvl3pPr indent="-342900" lvl="2" marL="1371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400" u="none" cap="none" strike="noStrike">
                <a:solidFill>
                  <a:srgbClr val="000000"/>
                </a:solidFill>
                <a:latin typeface="Arial"/>
                <a:ea typeface="Arial"/>
                <a:cs typeface="Arial"/>
                <a:sym typeface="Arial"/>
              </a:defRPr>
            </a:lvl9pPr>
          </a:lstStyle>
          <a:p/>
        </p:txBody>
      </p:sp>
      <p:sp>
        <p:nvSpPr>
          <p:cNvPr id="75" name="Google Shape;75;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6" name="Google Shape;76;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77" name="Google Shape;77;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descr="A blue and orange logo&#10;&#10;Description automatically generated" id="6" name="Google Shape;6;p3"/>
          <p:cNvPicPr preferRelativeResize="0"/>
          <p:nvPr/>
        </p:nvPicPr>
        <p:blipFill rotWithShape="1">
          <a:blip r:embed="rId1">
            <a:alphaModFix/>
          </a:blip>
          <a:srcRect b="0" l="0" r="0" t="0"/>
          <a:stretch/>
        </p:blipFill>
        <p:spPr>
          <a:xfrm>
            <a:off x="331690" y="245466"/>
            <a:ext cx="1506070" cy="55793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0" Type="http://schemas.openxmlformats.org/officeDocument/2006/relationships/hyperlink" Target="https://lshubwales.com/innovation-assessment-digital-wound-care#:~:text=headquartered%20in%20Dallas%2C%20Texas%2C%20with,that%20year%2C%20acknowledging%20its%20innovative" TargetMode="External"/><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s27.q4cdn.com/906368049/files/News/2024/Zacks_SCR_Research_07152024_MDAI_Vandermosten.pdf#:~:text=the%20CE%20mark%20in%20Europe,with%20potential%20for%20broader%20distribution" TargetMode="External"/><Relationship Id="rId4" Type="http://schemas.openxmlformats.org/officeDocument/2006/relationships/hyperlink" Target="https://lshubwales.com/innovation-assessment-digital-wound-care#:~:text=Spectral%20MD%2C%20a%20medical%20technology,diagnostics%20accuracy%2C%2089" TargetMode="External"/><Relationship Id="rId9" Type="http://schemas.openxmlformats.org/officeDocument/2006/relationships/hyperlink" Target="https://lshubwales.com/innovation-assessment-digital-wound-care#:~:text=Adiuvo%20Diagnostics%20Pvt%20Ltd%20is,providing%20the%20spatial%20location%20of" TargetMode="External"/><Relationship Id="rId5" Type="http://schemas.openxmlformats.org/officeDocument/2006/relationships/hyperlink" Target="https://s27.q4cdn.com/906368049/files/News/2024/Zacks_SCR_Research_07152024_MDAI_Vandermosten.pdf#:~:text=Spectral%20AI%20is%20developing%20an,around%20the%20world%20to%20obtain" TargetMode="External"/><Relationship Id="rId6" Type="http://schemas.openxmlformats.org/officeDocument/2006/relationships/hyperlink" Target="https://www.spectral-ai.com/wound-healing-technologies/multispectral-imaging/#:~:text=Spectral%20AI%20system%20begins%20its,remitted%20by%20the%20tissue%20detected" TargetMode="External"/><Relationship Id="rId7" Type="http://schemas.openxmlformats.org/officeDocument/2006/relationships/hyperlink" Target="https://lshubwales.com/innovation-assessment-digital-wound-care#:~:text=Accessibility%3A%20In%20rural%20areas%2C%20where,to%20specialised%20wound%20care%20providers" TargetMode="External"/><Relationship Id="rId8" Type="http://schemas.openxmlformats.org/officeDocument/2006/relationships/hyperlink" Target="https://s27.q4cdn.com/906368049/files/News/2024/Zacks_SCR_Research_07152024_MDAI_Vandermosten.pdf#:~:text=Spectral%20is%20conducting%20multiple%20clinical,amputation%20%26%20critical%20limb%20ischemia"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s://www.marketresearchfuture.com/reports/india-teledermatology-market-51745#:~:text=As%20per%20MRFR%20analysis%2C%20the,2035" TargetMode="External"/><Relationship Id="rId4" Type="http://schemas.openxmlformats.org/officeDocument/2006/relationships/hyperlink" Target="https://www.marketresearchfuture.com/reports/india-teledermatology-market-51745#:~:text=An%20important%20factor%20propelling%20the,of%20Dermatologists%2C%20Venereologists%2C%20and%20Leprologists" TargetMode="External"/><Relationship Id="rId5" Type="http://schemas.openxmlformats.org/officeDocument/2006/relationships/hyperlink" Target="https://www.linkedin.com/pulse/skin-diagnostic-device-marketfuture-outlook-trends-expansion-x7qqc/#:~:text=The%20skin%20diagnostic%20device%20market,affordability%2C%20making%20skin%20diagnostic%20technologi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
          <p:cNvSpPr/>
          <p:nvPr/>
        </p:nvSpPr>
        <p:spPr>
          <a:xfrm>
            <a:off x="0" y="1154249"/>
            <a:ext cx="12192000" cy="4339609"/>
          </a:xfrm>
          <a:prstGeom prst="rect">
            <a:avLst/>
          </a:prstGeom>
          <a:noFill/>
          <a:ln>
            <a:noFill/>
          </a:ln>
        </p:spPr>
        <p:txBody>
          <a:bodyPr anchorCtr="0" anchor="t" bIns="45700" lIns="91425" spcFirstLastPara="1" rIns="91425" wrap="square" tIns="45700">
            <a:spAutoFit/>
          </a:bodyPr>
          <a:lstStyle/>
          <a:p>
            <a:pPr indent="0" lvl="0" marL="0" rtl="0" algn="ctr">
              <a:lnSpc>
                <a:spcPct val="150000"/>
              </a:lnSpc>
              <a:spcBef>
                <a:spcPts val="200"/>
              </a:spcBef>
              <a:spcAft>
                <a:spcPts val="0"/>
              </a:spcAft>
              <a:buClr>
                <a:schemeClr val="dk1"/>
              </a:buClr>
              <a:buSzPts val="1100"/>
              <a:buFont typeface="Arial"/>
              <a:buNone/>
            </a:pPr>
            <a:r>
              <a:rPr b="1" lang="en-US" sz="2700">
                <a:solidFill>
                  <a:schemeClr val="dk1"/>
                </a:solidFill>
              </a:rPr>
              <a:t>DermaTrack: Multispectral Imaging for Skin Diagnosis</a:t>
            </a:r>
            <a:endParaRPr b="0" i="0" sz="23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600"/>
              </a:spcBef>
              <a:spcAft>
                <a:spcPts val="0"/>
              </a:spcAft>
              <a:buClr>
                <a:srgbClr val="000000"/>
              </a:buClr>
              <a:buSzPts val="3200"/>
              <a:buFont typeface="Arial"/>
              <a:buNone/>
            </a:pPr>
            <a:r>
              <a:rPr b="1" i="0" lang="en-US" sz="3200" u="none" cap="none" strike="noStrike">
                <a:solidFill>
                  <a:schemeClr val="dk1"/>
                </a:solidFill>
                <a:latin typeface="Arial"/>
                <a:ea typeface="Arial"/>
                <a:cs typeface="Arial"/>
                <a:sym typeface="Arial"/>
              </a:rPr>
              <a:t> </a:t>
            </a:r>
            <a:r>
              <a:rPr b="1" i="0" lang="en-US" sz="2000" u="none" cap="none" strike="noStrike">
                <a:solidFill>
                  <a:schemeClr val="dk1"/>
                </a:solidFill>
                <a:latin typeface="Arial"/>
                <a:ea typeface="Arial"/>
                <a:cs typeface="Arial"/>
                <a:sym typeface="Arial"/>
              </a:rPr>
              <a:t>by</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600"/>
              </a:spcBef>
              <a:spcAft>
                <a:spcPts val="0"/>
              </a:spcAft>
              <a:buClr>
                <a:srgbClr val="000000"/>
              </a:buClr>
              <a:buSzPts val="1600"/>
              <a:buFont typeface="Arial"/>
              <a:buNone/>
            </a:pPr>
            <a:r>
              <a:t/>
            </a:r>
            <a:endParaRPr b="0" i="0" sz="1600" u="none" cap="none" strike="noStrike">
              <a:solidFill>
                <a:schemeClr val="dk1"/>
              </a:solidFill>
              <a:latin typeface="Times New Roman"/>
              <a:ea typeface="Times New Roman"/>
              <a:cs typeface="Times New Roman"/>
              <a:sym typeface="Times New Roman"/>
            </a:endParaRPr>
          </a:p>
          <a:p>
            <a:pPr indent="0" lvl="0" marL="0" marR="0" rtl="0" algn="ctr">
              <a:lnSpc>
                <a:spcPct val="150000"/>
              </a:lnSpc>
              <a:spcBef>
                <a:spcPts val="600"/>
              </a:spcBef>
              <a:spcAft>
                <a:spcPts val="0"/>
              </a:spcAft>
              <a:buClr>
                <a:srgbClr val="000000"/>
              </a:buClr>
              <a:buSzPts val="2000"/>
              <a:buFont typeface="Arial"/>
              <a:buNone/>
            </a:pPr>
            <a:r>
              <a:rPr b="1" lang="en-US" sz="2000">
                <a:solidFill>
                  <a:schemeClr val="dk1"/>
                </a:solidFill>
              </a:rPr>
              <a:t>Dr. Subhankar Mishra</a:t>
            </a:r>
            <a:r>
              <a:rPr b="1" i="0" lang="en-US" sz="2000" u="none" cap="none" strike="noStrike">
                <a:solidFill>
                  <a:schemeClr val="dk1"/>
                </a:solidFill>
                <a:latin typeface="Arial"/>
                <a:ea typeface="Arial"/>
                <a:cs typeface="Arial"/>
                <a:sym typeface="Arial"/>
              </a:rPr>
              <a:t>, </a:t>
            </a:r>
            <a:endParaRPr b="1" i="0" sz="2000" u="none" cap="none" strike="noStrike">
              <a:solidFill>
                <a:schemeClr val="dk1"/>
              </a:solidFill>
              <a:latin typeface="Arial"/>
              <a:ea typeface="Arial"/>
              <a:cs typeface="Arial"/>
              <a:sym typeface="Arial"/>
            </a:endParaRPr>
          </a:p>
          <a:p>
            <a:pPr indent="0" lvl="0" marL="0" marR="0" rtl="0" algn="ctr">
              <a:lnSpc>
                <a:spcPct val="150000"/>
              </a:lnSpc>
              <a:spcBef>
                <a:spcPts val="600"/>
              </a:spcBef>
              <a:spcAft>
                <a:spcPts val="0"/>
              </a:spcAft>
              <a:buClr>
                <a:srgbClr val="000000"/>
              </a:buClr>
              <a:buSzPts val="2000"/>
              <a:buFont typeface="Arial"/>
              <a:buNone/>
            </a:pPr>
            <a:r>
              <a:rPr b="1" lang="en-US" sz="2000">
                <a:solidFill>
                  <a:schemeClr val="dk1"/>
                </a:solidFill>
              </a:rPr>
              <a:t>School of Computational Sciences</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600"/>
              </a:spcBef>
              <a:spcAft>
                <a:spcPts val="0"/>
              </a:spcAft>
              <a:buClr>
                <a:srgbClr val="000000"/>
              </a:buClr>
              <a:buSzPts val="2000"/>
              <a:buFont typeface="Arial"/>
              <a:buNone/>
            </a:pPr>
            <a:r>
              <a:rPr b="1" lang="en-US" sz="2000">
                <a:solidFill>
                  <a:schemeClr val="dk1"/>
                </a:solidFill>
              </a:rPr>
              <a:t>NISER, Bhubaneswar</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6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Theme: </a:t>
            </a:r>
            <a:r>
              <a:rPr b="1" lang="en-US" sz="2000">
                <a:solidFill>
                  <a:schemeClr val="dk1"/>
                </a:solidFill>
              </a:rPr>
              <a:t>Medtech devices for early detection and point of care</a:t>
            </a:r>
            <a:endParaRPr b="0" i="0" sz="1400" u="none" cap="none" strike="noStrike">
              <a:solidFill>
                <a:srgbClr val="000000"/>
              </a:solidFill>
              <a:latin typeface="Arial"/>
              <a:ea typeface="Arial"/>
              <a:cs typeface="Arial"/>
              <a:sym typeface="Arial"/>
            </a:endParaRPr>
          </a:p>
          <a:p>
            <a:pPr indent="0" lvl="0" marL="0" marR="0" rtl="0" algn="ctr">
              <a:lnSpc>
                <a:spcPct val="150000"/>
              </a:lnSpc>
              <a:spcBef>
                <a:spcPts val="600"/>
              </a:spcBef>
              <a:spcAft>
                <a:spcPts val="0"/>
              </a:spcAft>
              <a:buClr>
                <a:srgbClr val="000000"/>
              </a:buClr>
              <a:buSzPts val="2000"/>
              <a:buFont typeface="Arial"/>
              <a:buNone/>
            </a:pPr>
            <a:r>
              <a:rPr b="1" i="0" lang="en-US" sz="2000" u="none" cap="none" strike="noStrike">
                <a:solidFill>
                  <a:schemeClr val="dk1"/>
                </a:solidFill>
                <a:latin typeface="Arial"/>
                <a:ea typeface="Arial"/>
                <a:cs typeface="Arial"/>
                <a:sym typeface="Arial"/>
              </a:rPr>
              <a:t>TRL Level:  4</a:t>
            </a:r>
            <a:endParaRPr b="0" i="0" sz="1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6" name="Shape 86"/>
        <p:cNvGrpSpPr/>
        <p:nvPr/>
      </p:nvGrpSpPr>
      <p:grpSpPr>
        <a:xfrm>
          <a:off x="0" y="0"/>
          <a:ext cx="0" cy="0"/>
          <a:chOff x="0" y="0"/>
          <a:chExt cx="0" cy="0"/>
        </a:xfrm>
      </p:grpSpPr>
      <p:sp>
        <p:nvSpPr>
          <p:cNvPr id="87" name="Google Shape;87;g25ace02ada9_0_0"/>
          <p:cNvSpPr txBox="1"/>
          <p:nvPr>
            <p:ph idx="1" type="body"/>
          </p:nvPr>
        </p:nvSpPr>
        <p:spPr>
          <a:xfrm>
            <a:off x="286600" y="1035525"/>
            <a:ext cx="11704500" cy="5737200"/>
          </a:xfrm>
          <a:prstGeom prst="rect">
            <a:avLst/>
          </a:prstGeom>
          <a:noFill/>
          <a:ln>
            <a:noFill/>
          </a:ln>
        </p:spPr>
        <p:txBody>
          <a:bodyPr anchorCtr="0" anchor="t" bIns="45700" lIns="91425" spcFirstLastPara="1" rIns="91425" wrap="square" tIns="45700">
            <a:noAutofit/>
          </a:bodyPr>
          <a:lstStyle/>
          <a:p>
            <a:pPr indent="0" lvl="0" marL="0" rtl="0" algn="just">
              <a:lnSpc>
                <a:spcPct val="130000"/>
              </a:lnSpc>
              <a:spcBef>
                <a:spcPts val="1200"/>
              </a:spcBef>
              <a:spcAft>
                <a:spcPts val="0"/>
              </a:spcAft>
              <a:buSzPts val="605"/>
              <a:buNone/>
            </a:pPr>
            <a:r>
              <a:rPr lang="en-US" sz="2013">
                <a:solidFill>
                  <a:schemeClr val="dk1"/>
                </a:solidFill>
                <a:highlight>
                  <a:srgbClr val="05539C"/>
                </a:highlight>
              </a:rPr>
              <a:t>• </a:t>
            </a:r>
            <a:r>
              <a:rPr b="1" lang="en-US" sz="2178">
                <a:solidFill>
                  <a:schemeClr val="lt1"/>
                </a:solidFill>
                <a:highlight>
                  <a:srgbClr val="05539C"/>
                </a:highlight>
              </a:rPr>
              <a:t>Skin Infections are Frequently Misdiagnosed in Primary Care</a:t>
            </a:r>
            <a:r>
              <a:rPr b="1" lang="en-US" sz="2178">
                <a:solidFill>
                  <a:srgbClr val="05539C"/>
                </a:solidFill>
                <a:highlight>
                  <a:srgbClr val="05539C"/>
                </a:highlight>
              </a:rPr>
              <a:t>—---------------------------------</a:t>
            </a:r>
            <a:r>
              <a:rPr b="1" lang="en-US" sz="2178">
                <a:solidFill>
                  <a:schemeClr val="dk1"/>
                </a:solidFill>
                <a:highlight>
                  <a:srgbClr val="05539C"/>
                </a:highlight>
              </a:rPr>
              <a:t>  </a:t>
            </a:r>
            <a:br>
              <a:rPr b="1" lang="en-US" sz="2178">
                <a:solidFill>
                  <a:schemeClr val="dk1"/>
                </a:solidFill>
                <a:highlight>
                  <a:srgbClr val="134F5C"/>
                </a:highlight>
              </a:rPr>
            </a:br>
            <a:r>
              <a:rPr lang="en-US" sz="2013">
                <a:solidFill>
                  <a:schemeClr val="dk1"/>
                </a:solidFill>
              </a:rPr>
              <a:t> • General practitioners often rely on unaided visual inspection</a:t>
            </a:r>
            <a:br>
              <a:rPr lang="en-US" sz="2013">
                <a:solidFill>
                  <a:schemeClr val="dk1"/>
                </a:solidFill>
              </a:rPr>
            </a:br>
            <a:r>
              <a:rPr lang="en-US" sz="2013">
                <a:solidFill>
                  <a:schemeClr val="dk1"/>
                </a:solidFill>
              </a:rPr>
              <a:t> • This leads to </a:t>
            </a:r>
            <a:r>
              <a:rPr lang="en-US" sz="2013">
                <a:solidFill>
                  <a:schemeClr val="dk1"/>
                </a:solidFill>
              </a:rPr>
              <a:t>misdiagnosis</a:t>
            </a:r>
            <a:r>
              <a:rPr lang="en-US" sz="2013">
                <a:solidFill>
                  <a:schemeClr val="dk1"/>
                </a:solidFill>
              </a:rPr>
              <a:t>, delayed treatment, or overlooked conditions</a:t>
            </a:r>
            <a:br>
              <a:rPr lang="en-US" sz="2013">
                <a:solidFill>
                  <a:schemeClr val="dk1"/>
                </a:solidFill>
              </a:rPr>
            </a:br>
            <a:r>
              <a:rPr lang="en-US" sz="2013">
                <a:solidFill>
                  <a:schemeClr val="dk1"/>
                </a:solidFill>
              </a:rPr>
              <a:t> • Antibiotics are commonly prescribed for fungal infections, worsening patient outcomes</a:t>
            </a:r>
            <a:endParaRPr sz="2013">
              <a:solidFill>
                <a:schemeClr val="dk1"/>
              </a:solidFill>
            </a:endParaRPr>
          </a:p>
          <a:p>
            <a:pPr indent="0" lvl="0" marL="0" rtl="0" algn="just">
              <a:lnSpc>
                <a:spcPct val="130000"/>
              </a:lnSpc>
              <a:spcBef>
                <a:spcPts val="1200"/>
              </a:spcBef>
              <a:spcAft>
                <a:spcPts val="0"/>
              </a:spcAft>
              <a:buClr>
                <a:schemeClr val="dk1"/>
              </a:buClr>
              <a:buSzPts val="605"/>
              <a:buFont typeface="Arial"/>
              <a:buNone/>
            </a:pPr>
            <a:r>
              <a:rPr lang="en-US" sz="2013">
                <a:solidFill>
                  <a:schemeClr val="dk1"/>
                </a:solidFill>
                <a:highlight>
                  <a:srgbClr val="05539C"/>
                </a:highlight>
              </a:rPr>
              <a:t>•</a:t>
            </a:r>
            <a:r>
              <a:rPr lang="en-US" sz="2013">
                <a:solidFill>
                  <a:schemeClr val="lt1"/>
                </a:solidFill>
                <a:highlight>
                  <a:srgbClr val="05539C"/>
                </a:highlight>
              </a:rPr>
              <a:t> </a:t>
            </a:r>
            <a:r>
              <a:rPr b="1" lang="en-US" sz="2288">
                <a:solidFill>
                  <a:schemeClr val="lt1"/>
                </a:solidFill>
                <a:highlight>
                  <a:srgbClr val="05539C"/>
                </a:highlight>
              </a:rPr>
              <a:t>Dermatoscopy Remains Underutilized in Frontline Settings</a:t>
            </a:r>
            <a:r>
              <a:rPr b="1" lang="en-US" sz="2288">
                <a:solidFill>
                  <a:srgbClr val="05539C"/>
                </a:solidFill>
                <a:highlight>
                  <a:srgbClr val="05539C"/>
                </a:highlight>
              </a:rPr>
              <a:t>—------------------------------</a:t>
            </a:r>
            <a:br>
              <a:rPr b="1" lang="en-US" sz="2288">
                <a:solidFill>
                  <a:schemeClr val="dk1"/>
                </a:solidFill>
              </a:rPr>
            </a:br>
            <a:r>
              <a:rPr lang="en-US" sz="2013">
                <a:solidFill>
                  <a:schemeClr val="dk1"/>
                </a:solidFill>
              </a:rPr>
              <a:t> • While effective, it requires specialized training for accurate interpretation</a:t>
            </a:r>
            <a:br>
              <a:rPr lang="en-US" sz="2013">
                <a:solidFill>
                  <a:schemeClr val="dk1"/>
                </a:solidFill>
              </a:rPr>
            </a:br>
            <a:r>
              <a:rPr lang="en-US" sz="2013">
                <a:solidFill>
                  <a:schemeClr val="dk1"/>
                </a:solidFill>
              </a:rPr>
              <a:t> • Devices are expensive, contact-based, and </a:t>
            </a:r>
            <a:r>
              <a:rPr lang="en-US" sz="2013">
                <a:solidFill>
                  <a:schemeClr val="dk1"/>
                </a:solidFill>
              </a:rPr>
              <a:t>often unavailable in smaller clinics</a:t>
            </a:r>
            <a:br>
              <a:rPr lang="en-US" sz="2013">
                <a:solidFill>
                  <a:schemeClr val="dk1"/>
                </a:solidFill>
              </a:rPr>
            </a:br>
            <a:r>
              <a:rPr lang="en-US" sz="2013">
                <a:solidFill>
                  <a:schemeClr val="dk1"/>
                </a:solidFill>
              </a:rPr>
              <a:t> • Workflow constraints further limit its adoption outside specialist care</a:t>
            </a:r>
            <a:endParaRPr sz="2013">
              <a:solidFill>
                <a:schemeClr val="dk1"/>
              </a:solidFill>
            </a:endParaRPr>
          </a:p>
          <a:p>
            <a:pPr indent="0" lvl="0" marL="0" rtl="0" algn="just">
              <a:lnSpc>
                <a:spcPct val="130000"/>
              </a:lnSpc>
              <a:spcBef>
                <a:spcPts val="1200"/>
              </a:spcBef>
              <a:spcAft>
                <a:spcPts val="0"/>
              </a:spcAft>
              <a:buSzPts val="605"/>
              <a:buNone/>
            </a:pPr>
            <a:r>
              <a:rPr lang="en-US" sz="2013">
                <a:solidFill>
                  <a:schemeClr val="lt1"/>
                </a:solidFill>
                <a:highlight>
                  <a:srgbClr val="05539C"/>
                </a:highlight>
              </a:rPr>
              <a:t>• </a:t>
            </a:r>
            <a:r>
              <a:rPr b="1" lang="en-US" sz="2288">
                <a:solidFill>
                  <a:schemeClr val="lt1"/>
                </a:solidFill>
                <a:highlight>
                  <a:srgbClr val="05539C"/>
                </a:highlight>
              </a:rPr>
              <a:t>Overprescription Contributes to Rising Antimicrobial Resistance (AMR)</a:t>
            </a:r>
            <a:r>
              <a:rPr b="1" lang="en-US" sz="2288">
                <a:solidFill>
                  <a:srgbClr val="05539C"/>
                </a:solidFill>
                <a:highlight>
                  <a:srgbClr val="05539C"/>
                </a:highlight>
              </a:rPr>
              <a:t>________</a:t>
            </a:r>
            <a:r>
              <a:rPr b="1" lang="en-US" sz="2288">
                <a:solidFill>
                  <a:srgbClr val="05539C"/>
                </a:solidFill>
                <a:highlight>
                  <a:srgbClr val="05539C"/>
                </a:highlight>
              </a:rPr>
              <a:t>–</a:t>
            </a:r>
            <a:br>
              <a:rPr b="1" lang="en-US" sz="2288">
                <a:solidFill>
                  <a:schemeClr val="dk1"/>
                </a:solidFill>
              </a:rPr>
            </a:br>
            <a:r>
              <a:rPr lang="en-US" sz="2013">
                <a:solidFill>
                  <a:schemeClr val="dk1"/>
                </a:solidFill>
              </a:rPr>
              <a:t> • In the absence of diagnostic tools, broad-spectrum antibiotics are overused</a:t>
            </a:r>
            <a:br>
              <a:rPr lang="en-US" sz="2013">
                <a:solidFill>
                  <a:schemeClr val="dk1"/>
                </a:solidFill>
              </a:rPr>
            </a:br>
            <a:r>
              <a:rPr lang="en-US" sz="2013">
                <a:solidFill>
                  <a:schemeClr val="dk1"/>
                </a:solidFill>
              </a:rPr>
              <a:t> • AMR is accelerating due to unnecessary prescriptions in dermatological cases</a:t>
            </a:r>
            <a:br>
              <a:rPr lang="en-US" sz="2013">
                <a:solidFill>
                  <a:schemeClr val="dk1"/>
                </a:solidFill>
              </a:rPr>
            </a:br>
            <a:r>
              <a:rPr lang="en-US" sz="2013">
                <a:solidFill>
                  <a:schemeClr val="dk1"/>
                </a:solidFill>
              </a:rPr>
              <a:t> • Most of antibiotics for skin conditions are not clinically necessary</a:t>
            </a:r>
            <a:endParaRPr sz="2013">
              <a:solidFill>
                <a:schemeClr val="dk1"/>
              </a:solidFill>
            </a:endParaRPr>
          </a:p>
          <a:p>
            <a:pPr indent="0" lvl="0" marL="0" rtl="0" algn="just">
              <a:lnSpc>
                <a:spcPct val="130000"/>
              </a:lnSpc>
              <a:spcBef>
                <a:spcPts val="1200"/>
              </a:spcBef>
              <a:spcAft>
                <a:spcPts val="0"/>
              </a:spcAft>
              <a:buClr>
                <a:schemeClr val="dk1"/>
              </a:buClr>
              <a:buSzPts val="605"/>
              <a:buFont typeface="Arial"/>
              <a:buNone/>
            </a:pPr>
            <a:r>
              <a:t/>
            </a:r>
            <a:endParaRPr i="1" sz="1335">
              <a:solidFill>
                <a:schemeClr val="dk1"/>
              </a:solidFill>
            </a:endParaRPr>
          </a:p>
          <a:p>
            <a:pPr indent="0" lvl="0" marL="457200" rtl="0" algn="just">
              <a:lnSpc>
                <a:spcPct val="70000"/>
              </a:lnSpc>
              <a:spcBef>
                <a:spcPts val="1200"/>
              </a:spcBef>
              <a:spcAft>
                <a:spcPts val="0"/>
              </a:spcAft>
              <a:buSzPts val="605"/>
              <a:buNone/>
            </a:pPr>
            <a:r>
              <a:t/>
            </a:r>
            <a:endParaRPr sz="1500">
              <a:solidFill>
                <a:schemeClr val="dk1"/>
              </a:solidFill>
              <a:highlight>
                <a:schemeClr val="lt1"/>
              </a:highlight>
            </a:endParaRPr>
          </a:p>
        </p:txBody>
      </p:sp>
      <p:sp>
        <p:nvSpPr>
          <p:cNvPr id="88" name="Google Shape;88;g25ace02ada9_0_0"/>
          <p:cNvSpPr txBox="1"/>
          <p:nvPr/>
        </p:nvSpPr>
        <p:spPr>
          <a:xfrm>
            <a:off x="3638550" y="238125"/>
            <a:ext cx="500062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5539C"/>
                </a:solidFill>
                <a:latin typeface="Arial"/>
                <a:ea typeface="Arial"/>
                <a:cs typeface="Arial"/>
                <a:sym typeface="Arial"/>
              </a:rPr>
              <a:t>Problem Statement</a:t>
            </a:r>
            <a:endParaRPr b="1" i="0" sz="2800" u="none" cap="none" strike="noStrike">
              <a:solidFill>
                <a:srgbClr val="05539C"/>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g25ace02ada9_0_5"/>
          <p:cNvSpPr txBox="1"/>
          <p:nvPr>
            <p:ph idx="1" type="body"/>
          </p:nvPr>
        </p:nvSpPr>
        <p:spPr>
          <a:xfrm>
            <a:off x="481500" y="1008975"/>
            <a:ext cx="5543700" cy="5705700"/>
          </a:xfrm>
          <a:prstGeom prst="rect">
            <a:avLst/>
          </a:prstGeom>
          <a:noFill/>
          <a:ln>
            <a:noFill/>
          </a:ln>
        </p:spPr>
        <p:txBody>
          <a:bodyPr anchorCtr="0" anchor="t" bIns="45700" lIns="91425" spcFirstLastPara="1" rIns="91425" wrap="square" tIns="45700">
            <a:normAutofit fontScale="70000" lnSpcReduction="10000"/>
          </a:bodyPr>
          <a:lstStyle/>
          <a:p>
            <a:pPr indent="0" lvl="0" marL="0" rtl="0" algn="l">
              <a:lnSpc>
                <a:spcPct val="90000"/>
              </a:lnSpc>
              <a:spcBef>
                <a:spcPts val="1000"/>
              </a:spcBef>
              <a:spcAft>
                <a:spcPts val="0"/>
              </a:spcAft>
              <a:buNone/>
            </a:pPr>
            <a:r>
              <a:rPr b="1" lang="en-US" sz="2741" u="sng">
                <a:solidFill>
                  <a:srgbClr val="05539C"/>
                </a:solidFill>
                <a:highlight>
                  <a:srgbClr val="05539C"/>
                </a:highlight>
              </a:rPr>
              <a:t>—-------</a:t>
            </a:r>
            <a:r>
              <a:rPr b="1" lang="en-US" sz="2741">
                <a:solidFill>
                  <a:schemeClr val="lt1"/>
                </a:solidFill>
                <a:highlight>
                  <a:srgbClr val="05539C"/>
                </a:highlight>
              </a:rPr>
              <a:t>Multisensor AI Diagnostic Platform</a:t>
            </a:r>
            <a:r>
              <a:rPr b="1" lang="en-US" sz="2741" u="sng">
                <a:solidFill>
                  <a:srgbClr val="05539C"/>
                </a:solidFill>
                <a:highlight>
                  <a:srgbClr val="05539C"/>
                </a:highlight>
              </a:rPr>
              <a:t>—--- </a:t>
            </a:r>
            <a:endParaRPr b="1" sz="2741" u="sng">
              <a:solidFill>
                <a:srgbClr val="05539C"/>
              </a:solidFill>
              <a:highlight>
                <a:srgbClr val="05539C"/>
              </a:highlight>
            </a:endParaRPr>
          </a:p>
          <a:p>
            <a:pPr indent="0" lvl="0" marL="0" rtl="0" algn="l">
              <a:lnSpc>
                <a:spcPct val="150000"/>
              </a:lnSpc>
              <a:spcBef>
                <a:spcPts val="1000"/>
              </a:spcBef>
              <a:spcAft>
                <a:spcPts val="0"/>
              </a:spcAft>
              <a:buNone/>
            </a:pPr>
            <a:r>
              <a:rPr lang="en-US" sz="2124">
                <a:solidFill>
                  <a:schemeClr val="dk1"/>
                </a:solidFill>
              </a:rPr>
              <a:t>We propose a non-invasive, AI-driven diagnostic platform combining </a:t>
            </a:r>
            <a:r>
              <a:rPr b="1" lang="en-US" sz="2124">
                <a:solidFill>
                  <a:schemeClr val="dk1"/>
                </a:solidFill>
              </a:rPr>
              <a:t>Multispectral Imaging (MSI)</a:t>
            </a:r>
            <a:r>
              <a:rPr lang="en-US" sz="2124">
                <a:solidFill>
                  <a:schemeClr val="dk1"/>
                </a:solidFill>
              </a:rPr>
              <a:t> assisted with thermal sensing, humidity/TEWL monitoring, and skin gas (VOC) analysis. This multi-sensor system is designed for point-of-care use in frontline clinics, enabling objective, contactless assessment of skin and scalp conditions. By delivering real-time diagnostic insights through AI algorithms trained on curated clinical data, the system reduces misdiagnosis, avoids unnecessary antibiotic use, and eliminates reliance on specialist tools like dermatoscopes. Affordable, explainable, and easy to operate, it empowers general practitioners with a scalable alternative to traditional visual inspection, promoting timely care and reducing antimicrobial resistance.</a:t>
            </a:r>
            <a:endParaRPr sz="2124">
              <a:solidFill>
                <a:schemeClr val="dk1"/>
              </a:solidFill>
            </a:endParaRPr>
          </a:p>
          <a:p>
            <a:pPr indent="0" lvl="0" marL="0" rtl="0" algn="l">
              <a:lnSpc>
                <a:spcPct val="90000"/>
              </a:lnSpc>
              <a:spcBef>
                <a:spcPts val="1000"/>
              </a:spcBef>
              <a:spcAft>
                <a:spcPts val="0"/>
              </a:spcAft>
              <a:buNone/>
            </a:pPr>
            <a:r>
              <a:t/>
            </a:r>
            <a:endParaRPr>
              <a:solidFill>
                <a:srgbClr val="7F7F7F"/>
              </a:solidFill>
            </a:endParaRPr>
          </a:p>
          <a:p>
            <a:pPr indent="0" lvl="0" marL="0" rtl="0" algn="l">
              <a:lnSpc>
                <a:spcPct val="115000"/>
              </a:lnSpc>
              <a:spcBef>
                <a:spcPts val="1200"/>
              </a:spcBef>
              <a:spcAft>
                <a:spcPts val="0"/>
              </a:spcAft>
              <a:buNone/>
            </a:pPr>
            <a:r>
              <a:t/>
            </a:r>
            <a:endParaRPr sz="2171">
              <a:solidFill>
                <a:srgbClr val="7F7F7F"/>
              </a:solidFill>
            </a:endParaRPr>
          </a:p>
          <a:p>
            <a:pPr indent="0" lvl="0" marL="0" rtl="0" algn="l">
              <a:lnSpc>
                <a:spcPct val="90000"/>
              </a:lnSpc>
              <a:spcBef>
                <a:spcPts val="1200"/>
              </a:spcBef>
              <a:spcAft>
                <a:spcPts val="0"/>
              </a:spcAft>
              <a:buNone/>
            </a:pPr>
            <a:r>
              <a:t/>
            </a:r>
            <a:endParaRPr sz="1500">
              <a:solidFill>
                <a:schemeClr val="dk1"/>
              </a:solidFill>
            </a:endParaRPr>
          </a:p>
        </p:txBody>
      </p:sp>
      <p:sp>
        <p:nvSpPr>
          <p:cNvPr id="94" name="Google Shape;94;g25ace02ada9_0_5"/>
          <p:cNvSpPr txBox="1"/>
          <p:nvPr/>
        </p:nvSpPr>
        <p:spPr>
          <a:xfrm>
            <a:off x="3638550" y="238125"/>
            <a:ext cx="500062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5539C"/>
                </a:solidFill>
                <a:latin typeface="Arial"/>
                <a:ea typeface="Arial"/>
                <a:cs typeface="Arial"/>
                <a:sym typeface="Arial"/>
              </a:rPr>
              <a:t>Solution </a:t>
            </a:r>
            <a:endParaRPr b="1" i="0" sz="2800" u="none" cap="none" strike="noStrike">
              <a:solidFill>
                <a:srgbClr val="05539C"/>
              </a:solidFill>
              <a:latin typeface="Arial"/>
              <a:ea typeface="Arial"/>
              <a:cs typeface="Arial"/>
              <a:sym typeface="Arial"/>
            </a:endParaRPr>
          </a:p>
        </p:txBody>
      </p:sp>
      <p:pic>
        <p:nvPicPr>
          <p:cNvPr id="95" name="Google Shape;95;g25ace02ada9_0_5" title="skin-cancer-detection-multispectral-imaging.jpg"/>
          <p:cNvPicPr preferRelativeResize="0"/>
          <p:nvPr/>
        </p:nvPicPr>
        <p:blipFill>
          <a:blip r:embed="rId3">
            <a:alphaModFix/>
          </a:blip>
          <a:stretch>
            <a:fillRect/>
          </a:stretch>
        </p:blipFill>
        <p:spPr>
          <a:xfrm>
            <a:off x="6393025" y="1008975"/>
            <a:ext cx="5488099" cy="4318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g373d1165b1e_0_0"/>
          <p:cNvSpPr txBox="1"/>
          <p:nvPr/>
        </p:nvSpPr>
        <p:spPr>
          <a:xfrm>
            <a:off x="4274525" y="0"/>
            <a:ext cx="38391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800">
                <a:solidFill>
                  <a:srgbClr val="05539C"/>
                </a:solidFill>
              </a:rPr>
              <a:t>USP/Differentiator </a:t>
            </a:r>
            <a:endParaRPr b="1" sz="2800">
              <a:solidFill>
                <a:srgbClr val="05539C"/>
              </a:solidFill>
            </a:endParaRPr>
          </a:p>
        </p:txBody>
      </p:sp>
      <p:graphicFrame>
        <p:nvGraphicFramePr>
          <p:cNvPr id="101" name="Google Shape;101;g373d1165b1e_0_0"/>
          <p:cNvGraphicFramePr/>
          <p:nvPr/>
        </p:nvGraphicFramePr>
        <p:xfrm>
          <a:off x="0" y="928700"/>
          <a:ext cx="3000000" cy="3000000"/>
        </p:xfrm>
        <a:graphic>
          <a:graphicData uri="http://schemas.openxmlformats.org/drawingml/2006/table">
            <a:tbl>
              <a:tblPr>
                <a:noFill/>
                <a:tableStyleId>{123CF24D-C1D4-479B-AACB-CC22CA2CC7E3}</a:tableStyleId>
              </a:tblPr>
              <a:tblGrid>
                <a:gridCol w="1042975"/>
                <a:gridCol w="2248625"/>
                <a:gridCol w="2252000"/>
              </a:tblGrid>
              <a:tr h="1340625">
                <a:tc>
                  <a:txBody>
                    <a:bodyPr/>
                    <a:lstStyle/>
                    <a:p>
                      <a:pPr indent="0" lvl="0" marL="0" marR="0" rtl="0" algn="ctr">
                        <a:lnSpc>
                          <a:spcPct val="115000"/>
                        </a:lnSpc>
                        <a:spcBef>
                          <a:spcPts val="1200"/>
                        </a:spcBef>
                        <a:spcAft>
                          <a:spcPts val="0"/>
                        </a:spcAft>
                        <a:buNone/>
                      </a:pPr>
                      <a:r>
                        <a:t/>
                      </a:r>
                      <a:endParaRPr b="1" sz="1900" u="sng">
                        <a:latin typeface="Times New Roman"/>
                        <a:ea typeface="Times New Roman"/>
                        <a:cs typeface="Times New Roman"/>
                        <a:sym typeface="Times New Roman"/>
                      </a:endParaRPr>
                    </a:p>
                    <a:p>
                      <a:pPr indent="0" lvl="0" marL="0" marR="0" rtl="0" algn="ctr">
                        <a:lnSpc>
                          <a:spcPct val="115000"/>
                        </a:lnSpc>
                        <a:spcBef>
                          <a:spcPts val="1200"/>
                        </a:spcBef>
                        <a:spcAft>
                          <a:spcPts val="1200"/>
                        </a:spcAft>
                        <a:buNone/>
                      </a:pPr>
                      <a:r>
                        <a:rPr b="1" lang="en-US" sz="1900" u="sng">
                          <a:latin typeface="Times New Roman"/>
                          <a:ea typeface="Times New Roman"/>
                          <a:cs typeface="Times New Roman"/>
                          <a:sym typeface="Times New Roman"/>
                        </a:rPr>
                        <a:t>Feature</a:t>
                      </a:r>
                      <a:endParaRPr b="1" sz="1900" u="sng">
                        <a:latin typeface="Times New Roman"/>
                        <a:ea typeface="Times New Roman"/>
                        <a:cs typeface="Times New Roman"/>
                        <a:sym typeface="Times New Roman"/>
                      </a:endParaRPr>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7625">
                      <a:solidFill>
                        <a:srgbClr val="000000"/>
                      </a:solidFill>
                      <a:prstDash val="solid"/>
                      <a:round/>
                      <a:headEnd len="sm" w="sm" type="none"/>
                      <a:tailEnd len="sm" w="sm" type="none"/>
                    </a:lnB>
                    <a:solidFill>
                      <a:srgbClr val="3D85C6"/>
                    </a:solidFill>
                  </a:tcPr>
                </a:tc>
                <a:tc>
                  <a:txBody>
                    <a:bodyPr/>
                    <a:lstStyle/>
                    <a:p>
                      <a:pPr indent="0" lvl="0" marL="0" marR="0" rtl="0" algn="ctr">
                        <a:lnSpc>
                          <a:spcPct val="115000"/>
                        </a:lnSpc>
                        <a:spcBef>
                          <a:spcPts val="1200"/>
                        </a:spcBef>
                        <a:spcAft>
                          <a:spcPts val="0"/>
                        </a:spcAft>
                        <a:buNone/>
                      </a:pPr>
                      <a:r>
                        <a:t/>
                      </a:r>
                      <a:endParaRPr b="1" sz="1900" u="sng">
                        <a:latin typeface="Times New Roman"/>
                        <a:ea typeface="Times New Roman"/>
                        <a:cs typeface="Times New Roman"/>
                        <a:sym typeface="Times New Roman"/>
                      </a:endParaRPr>
                    </a:p>
                    <a:p>
                      <a:pPr indent="0" lvl="0" marL="0" marR="0" rtl="0" algn="ctr">
                        <a:lnSpc>
                          <a:spcPct val="115000"/>
                        </a:lnSpc>
                        <a:spcBef>
                          <a:spcPts val="1200"/>
                        </a:spcBef>
                        <a:spcAft>
                          <a:spcPts val="1200"/>
                        </a:spcAft>
                        <a:buNone/>
                      </a:pPr>
                      <a:r>
                        <a:rPr b="1" lang="en-US" sz="1900" u="sng">
                          <a:latin typeface="Times New Roman"/>
                          <a:ea typeface="Times New Roman"/>
                          <a:cs typeface="Times New Roman"/>
                          <a:sym typeface="Times New Roman"/>
                        </a:rPr>
                        <a:t>Our MSI Dermascope</a:t>
                      </a:r>
                      <a:endParaRPr b="1" sz="1900" u="sng">
                        <a:latin typeface="Times New Roman"/>
                        <a:ea typeface="Times New Roman"/>
                        <a:cs typeface="Times New Roman"/>
                        <a:sym typeface="Times New Roman"/>
                      </a:endParaRPr>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7625">
                      <a:solidFill>
                        <a:srgbClr val="000000"/>
                      </a:solidFill>
                      <a:prstDash val="solid"/>
                      <a:round/>
                      <a:headEnd len="sm" w="sm" type="none"/>
                      <a:tailEnd len="sm" w="sm" type="none"/>
                    </a:lnB>
                    <a:solidFill>
                      <a:srgbClr val="3D85C6"/>
                    </a:solidFill>
                  </a:tcPr>
                </a:tc>
                <a:tc>
                  <a:txBody>
                    <a:bodyPr/>
                    <a:lstStyle/>
                    <a:p>
                      <a:pPr indent="0" lvl="0" marL="0" marR="0" rtl="0" algn="ctr">
                        <a:lnSpc>
                          <a:spcPct val="115000"/>
                        </a:lnSpc>
                        <a:spcBef>
                          <a:spcPts val="1200"/>
                        </a:spcBef>
                        <a:spcAft>
                          <a:spcPts val="0"/>
                        </a:spcAft>
                        <a:buNone/>
                      </a:pPr>
                      <a:r>
                        <a:t/>
                      </a:r>
                      <a:endParaRPr b="1" sz="1900" u="sng">
                        <a:latin typeface="Times New Roman"/>
                        <a:ea typeface="Times New Roman"/>
                        <a:cs typeface="Times New Roman"/>
                        <a:sym typeface="Times New Roman"/>
                      </a:endParaRPr>
                    </a:p>
                    <a:p>
                      <a:pPr indent="0" lvl="0" marL="0" marR="0" rtl="0" algn="ctr">
                        <a:lnSpc>
                          <a:spcPct val="115000"/>
                        </a:lnSpc>
                        <a:spcBef>
                          <a:spcPts val="1200"/>
                        </a:spcBef>
                        <a:spcAft>
                          <a:spcPts val="1200"/>
                        </a:spcAft>
                        <a:buNone/>
                      </a:pPr>
                      <a:r>
                        <a:rPr b="1" lang="en-US" sz="1900" u="sng">
                          <a:latin typeface="Times New Roman"/>
                          <a:ea typeface="Times New Roman"/>
                          <a:cs typeface="Times New Roman"/>
                          <a:sym typeface="Times New Roman"/>
                        </a:rPr>
                        <a:t>Spectral AI (DeepView)</a:t>
                      </a:r>
                      <a:endParaRPr b="1" sz="1900" u="sng">
                        <a:latin typeface="Times New Roman"/>
                        <a:ea typeface="Times New Roman"/>
                        <a:cs typeface="Times New Roman"/>
                        <a:sym typeface="Times New Roman"/>
                      </a:endParaRPr>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7625">
                      <a:solidFill>
                        <a:srgbClr val="000000"/>
                      </a:solidFill>
                      <a:prstDash val="solid"/>
                      <a:round/>
                      <a:headEnd len="sm" w="sm" type="none"/>
                      <a:tailEnd len="sm" w="sm" type="none"/>
                    </a:lnB>
                    <a:solidFill>
                      <a:srgbClr val="3D85C6"/>
                    </a:solidFill>
                  </a:tcPr>
                </a:tc>
              </a:tr>
              <a:tr h="1456775">
                <a:tc>
                  <a:txBody>
                    <a:bodyPr/>
                    <a:lstStyle/>
                    <a:p>
                      <a:pPr indent="0" lvl="0" marL="0" marR="0" rtl="0" algn="ctr">
                        <a:lnSpc>
                          <a:spcPct val="115000"/>
                        </a:lnSpc>
                        <a:spcBef>
                          <a:spcPts val="1200"/>
                        </a:spcBef>
                        <a:spcAft>
                          <a:spcPts val="1200"/>
                        </a:spcAft>
                        <a:buNone/>
                      </a:pPr>
                      <a:r>
                        <a:rPr b="1" lang="en-US" sz="1500"/>
                        <a:t>Cost</a:t>
                      </a:r>
                      <a:endParaRPr b="1" sz="15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6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c>
                  <a:txBody>
                    <a:bodyPr/>
                    <a:lstStyle/>
                    <a:p>
                      <a:pPr indent="0" lvl="0" marL="0" marR="0" rtl="0" algn="ctr">
                        <a:lnSpc>
                          <a:spcPct val="115000"/>
                        </a:lnSpc>
                        <a:spcBef>
                          <a:spcPts val="1200"/>
                        </a:spcBef>
                        <a:spcAft>
                          <a:spcPts val="1200"/>
                        </a:spcAft>
                        <a:buNone/>
                      </a:pPr>
                      <a:r>
                        <a:rPr lang="en-US" sz="1300"/>
                        <a:t>- </a:t>
                      </a:r>
                      <a:r>
                        <a:rPr b="1" lang="en-US" sz="1300"/>
                        <a:t>Low-cost</a:t>
                      </a:r>
                      <a:r>
                        <a:rPr lang="en-US" sz="1300"/>
                        <a:t> smartphone-based device (minimal hardware) – affordable for widespread use.</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6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c>
                  <a:txBody>
                    <a:bodyPr/>
                    <a:lstStyle/>
                    <a:p>
                      <a:pPr indent="0" lvl="0" marL="0" marR="0" rtl="0" algn="ctr">
                        <a:lnSpc>
                          <a:spcPct val="115000"/>
                        </a:lnSpc>
                        <a:spcBef>
                          <a:spcPts val="1200"/>
                        </a:spcBef>
                        <a:spcAft>
                          <a:spcPts val="1200"/>
                        </a:spcAft>
                        <a:buNone/>
                      </a:pPr>
                      <a:r>
                        <a:rPr lang="en-US" sz="1300"/>
                        <a:t>- </a:t>
                      </a:r>
                      <a:r>
                        <a:rPr b="1" lang="en-US" sz="1300"/>
                        <a:t>High-cost</a:t>
                      </a:r>
                      <a:r>
                        <a:rPr lang="en-US" sz="1300"/>
                        <a:t> advanced MSI device (developed with large R&amp;D investments; license-based hospital model)</a:t>
                      </a:r>
                      <a:r>
                        <a:rPr lang="en-US" sz="1300" u="sng">
                          <a:solidFill>
                            <a:schemeClr val="hlink"/>
                          </a:solidFill>
                          <a:hlinkClick r:id="rId3"/>
                        </a:rPr>
                        <a:t>[1]</a:t>
                      </a:r>
                      <a:r>
                        <a:rPr lang="en-US" sz="1300"/>
                        <a:t>.</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6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r h="1675125">
                <a:tc>
                  <a:txBody>
                    <a:bodyPr/>
                    <a:lstStyle/>
                    <a:p>
                      <a:pPr indent="0" lvl="0" marL="0" marR="0" rtl="0" algn="ctr">
                        <a:lnSpc>
                          <a:spcPct val="115000"/>
                        </a:lnSpc>
                        <a:spcBef>
                          <a:spcPts val="1200"/>
                        </a:spcBef>
                        <a:spcAft>
                          <a:spcPts val="1200"/>
                        </a:spcAft>
                        <a:buNone/>
                      </a:pPr>
                      <a:r>
                        <a:rPr b="1" lang="en-US" sz="1500"/>
                        <a:t>Portability</a:t>
                      </a:r>
                      <a:endParaRPr b="1" sz="15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c>
                  <a:txBody>
                    <a:bodyPr/>
                    <a:lstStyle/>
                    <a:p>
                      <a:pPr indent="0" lvl="0" marL="0" marR="0" rtl="0" algn="ctr">
                        <a:lnSpc>
                          <a:spcPct val="115000"/>
                        </a:lnSpc>
                        <a:spcBef>
                          <a:spcPts val="1200"/>
                        </a:spcBef>
                        <a:spcAft>
                          <a:spcPts val="1200"/>
                        </a:spcAft>
                        <a:buNone/>
                      </a:pPr>
                      <a:r>
                        <a:rPr lang="en-US" sz="1300"/>
                        <a:t>- </a:t>
                      </a:r>
                      <a:r>
                        <a:rPr b="1" lang="en-US" sz="1300"/>
                        <a:t>Ultra-portable:</a:t>
                      </a:r>
                      <a:r>
                        <a:rPr lang="en-US" sz="1300"/>
                        <a:t> compact, phone-integrated attachment; easily usable in rural clinics.</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c>
                  <a:txBody>
                    <a:bodyPr/>
                    <a:lstStyle/>
                    <a:p>
                      <a:pPr indent="0" lvl="0" marL="0" marR="0" rtl="0" algn="ctr">
                        <a:lnSpc>
                          <a:spcPct val="115000"/>
                        </a:lnSpc>
                        <a:spcBef>
                          <a:spcPts val="1200"/>
                        </a:spcBef>
                        <a:spcAft>
                          <a:spcPts val="1200"/>
                        </a:spcAft>
                        <a:buNone/>
                      </a:pPr>
                      <a:r>
                        <a:rPr lang="en-US" sz="1300"/>
                        <a:t>- </a:t>
                      </a:r>
                      <a:r>
                        <a:rPr b="1" lang="en-US" sz="1300"/>
                        <a:t>Handheld device:</a:t>
                      </a:r>
                      <a:r>
                        <a:rPr lang="en-US" sz="1300"/>
                        <a:t> portable in clinics but requires proprietary hardware</a:t>
                      </a:r>
                      <a:r>
                        <a:rPr lang="en-US" sz="1300" u="sng">
                          <a:solidFill>
                            <a:schemeClr val="hlink"/>
                          </a:solidFill>
                          <a:hlinkClick r:id="rId4"/>
                        </a:rPr>
                        <a:t>[3]</a:t>
                      </a:r>
                      <a:r>
                        <a:rPr lang="en-US" sz="1300"/>
                        <a:t> (SnapShot M version in development for field use).</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r h="1456775">
                <a:tc>
                  <a:txBody>
                    <a:bodyPr/>
                    <a:lstStyle/>
                    <a:p>
                      <a:pPr indent="0" lvl="0" marL="0" marR="0" rtl="0" algn="ctr">
                        <a:lnSpc>
                          <a:spcPct val="115000"/>
                        </a:lnSpc>
                        <a:spcBef>
                          <a:spcPts val="1200"/>
                        </a:spcBef>
                        <a:spcAft>
                          <a:spcPts val="1200"/>
                        </a:spcAft>
                        <a:buNone/>
                      </a:pPr>
                      <a:r>
                        <a:rPr b="1" lang="en-US" sz="1500"/>
                        <a:t>AI Scope</a:t>
                      </a:r>
                      <a:endParaRPr b="1" sz="15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c>
                  <a:txBody>
                    <a:bodyPr/>
                    <a:lstStyle/>
                    <a:p>
                      <a:pPr indent="0" lvl="0" marL="0" marR="0" rtl="0" algn="ctr">
                        <a:lnSpc>
                          <a:spcPct val="115000"/>
                        </a:lnSpc>
                        <a:spcBef>
                          <a:spcPts val="1200"/>
                        </a:spcBef>
                        <a:spcAft>
                          <a:spcPts val="1200"/>
                        </a:spcAft>
                        <a:buNone/>
                      </a:pPr>
                      <a:r>
                        <a:rPr lang="en-US" sz="1300"/>
                        <a:t>- </a:t>
                      </a:r>
                      <a:r>
                        <a:rPr b="1" lang="en-US" sz="1300"/>
                        <a:t>Broad AI analysis:</a:t>
                      </a:r>
                      <a:r>
                        <a:rPr lang="en-US" sz="1300"/>
                        <a:t> can identify multiple skin conditions (e.g. infections, ulcers) and assess wound status for diverse cases.</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c>
                  <a:txBody>
                    <a:bodyPr/>
                    <a:lstStyle/>
                    <a:p>
                      <a:pPr indent="0" lvl="0" marL="0" marR="0" rtl="0" algn="ctr">
                        <a:lnSpc>
                          <a:spcPct val="115000"/>
                        </a:lnSpc>
                        <a:spcBef>
                          <a:spcPts val="1200"/>
                        </a:spcBef>
                        <a:spcAft>
                          <a:spcPts val="1200"/>
                        </a:spcAft>
                        <a:buNone/>
                      </a:pPr>
                      <a:r>
                        <a:rPr lang="en-US" sz="1300"/>
                        <a:t>- </a:t>
                      </a:r>
                      <a:r>
                        <a:rPr b="1" lang="en-US" sz="1300"/>
                        <a:t>Focused AI:</a:t>
                      </a:r>
                      <a:r>
                        <a:rPr lang="en-US" sz="1300"/>
                        <a:t> predicts wound-healing outcomes (e.g. burn depth healing, diabetic foot ulcer risk) using MSI</a:t>
                      </a:r>
                      <a:r>
                        <a:rPr lang="en-US" sz="1300" u="sng">
                          <a:solidFill>
                            <a:schemeClr val="hlink"/>
                          </a:solidFill>
                          <a:hlinkClick r:id="rId5"/>
                        </a:rPr>
                        <a:t>[5]</a:t>
                      </a:r>
                      <a:r>
                        <a:rPr lang="en-US" sz="1300"/>
                        <a:t>.</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bl>
          </a:graphicData>
        </a:graphic>
      </p:graphicFrame>
      <p:graphicFrame>
        <p:nvGraphicFramePr>
          <p:cNvPr id="102" name="Google Shape;102;g373d1165b1e_0_0"/>
          <p:cNvGraphicFramePr/>
          <p:nvPr/>
        </p:nvGraphicFramePr>
        <p:xfrm>
          <a:off x="6091750" y="928700"/>
          <a:ext cx="3000000" cy="3000000"/>
        </p:xfrm>
        <a:graphic>
          <a:graphicData uri="http://schemas.openxmlformats.org/drawingml/2006/table">
            <a:tbl>
              <a:tblPr>
                <a:noFill/>
                <a:tableStyleId>{123CF24D-C1D4-479B-AACB-CC22CA2CC7E3}</a:tableStyleId>
              </a:tblPr>
              <a:tblGrid>
                <a:gridCol w="1749200"/>
                <a:gridCol w="2175525"/>
                <a:gridCol w="2175525"/>
              </a:tblGrid>
              <a:tr h="1308000">
                <a:tc>
                  <a:txBody>
                    <a:bodyPr/>
                    <a:lstStyle/>
                    <a:p>
                      <a:pPr indent="0" lvl="0" marL="0" marR="0" rtl="0" algn="ctr">
                        <a:lnSpc>
                          <a:spcPct val="115000"/>
                        </a:lnSpc>
                        <a:spcBef>
                          <a:spcPts val="1200"/>
                        </a:spcBef>
                        <a:spcAft>
                          <a:spcPts val="0"/>
                        </a:spcAft>
                        <a:buNone/>
                      </a:pPr>
                      <a:r>
                        <a:t/>
                      </a:r>
                      <a:endParaRPr b="1" sz="1900" u="sng">
                        <a:latin typeface="Times New Roman"/>
                        <a:ea typeface="Times New Roman"/>
                        <a:cs typeface="Times New Roman"/>
                        <a:sym typeface="Times New Roman"/>
                      </a:endParaRPr>
                    </a:p>
                    <a:p>
                      <a:pPr indent="0" lvl="0" marL="0" marR="0" rtl="0" algn="ctr">
                        <a:lnSpc>
                          <a:spcPct val="115000"/>
                        </a:lnSpc>
                        <a:spcBef>
                          <a:spcPts val="1200"/>
                        </a:spcBef>
                        <a:spcAft>
                          <a:spcPts val="1200"/>
                        </a:spcAft>
                        <a:buNone/>
                      </a:pPr>
                      <a:r>
                        <a:rPr b="1" lang="en-US" sz="1900" u="sng">
                          <a:latin typeface="Times New Roman"/>
                          <a:ea typeface="Times New Roman"/>
                          <a:cs typeface="Times New Roman"/>
                          <a:sym typeface="Times New Roman"/>
                        </a:rPr>
                        <a:t>Feature</a:t>
                      </a:r>
                      <a:endParaRPr b="1" sz="1900" u="sng">
                        <a:latin typeface="Times New Roman"/>
                        <a:ea typeface="Times New Roman"/>
                        <a:cs typeface="Times New Roman"/>
                        <a:sym typeface="Times New Roman"/>
                      </a:endParaRPr>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3D85C6"/>
                    </a:solidFill>
                  </a:tcPr>
                </a:tc>
                <a:tc>
                  <a:txBody>
                    <a:bodyPr/>
                    <a:lstStyle/>
                    <a:p>
                      <a:pPr indent="0" lvl="0" marL="0" marR="0" rtl="0" algn="ctr">
                        <a:lnSpc>
                          <a:spcPct val="115000"/>
                        </a:lnSpc>
                        <a:spcBef>
                          <a:spcPts val="1200"/>
                        </a:spcBef>
                        <a:spcAft>
                          <a:spcPts val="0"/>
                        </a:spcAft>
                        <a:buNone/>
                      </a:pPr>
                      <a:r>
                        <a:t/>
                      </a:r>
                      <a:endParaRPr b="1" sz="1900" u="sng">
                        <a:latin typeface="Times New Roman"/>
                        <a:ea typeface="Times New Roman"/>
                        <a:cs typeface="Times New Roman"/>
                        <a:sym typeface="Times New Roman"/>
                      </a:endParaRPr>
                    </a:p>
                    <a:p>
                      <a:pPr indent="0" lvl="0" marL="0" marR="0" rtl="0" algn="ctr">
                        <a:lnSpc>
                          <a:spcPct val="115000"/>
                        </a:lnSpc>
                        <a:spcBef>
                          <a:spcPts val="1200"/>
                        </a:spcBef>
                        <a:spcAft>
                          <a:spcPts val="1200"/>
                        </a:spcAft>
                        <a:buNone/>
                      </a:pPr>
                      <a:r>
                        <a:rPr b="1" lang="en-US" sz="1900" u="sng">
                          <a:latin typeface="Times New Roman"/>
                          <a:ea typeface="Times New Roman"/>
                          <a:cs typeface="Times New Roman"/>
                          <a:sym typeface="Times New Roman"/>
                        </a:rPr>
                        <a:t>Our MSI Dermascope</a:t>
                      </a:r>
                      <a:endParaRPr b="1" sz="1900" u="sng">
                        <a:latin typeface="Times New Roman"/>
                        <a:ea typeface="Times New Roman"/>
                        <a:cs typeface="Times New Roman"/>
                        <a:sym typeface="Times New Roman"/>
                      </a:endParaRPr>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3D85C6"/>
                    </a:solidFill>
                  </a:tcPr>
                </a:tc>
                <a:tc>
                  <a:txBody>
                    <a:bodyPr/>
                    <a:lstStyle/>
                    <a:p>
                      <a:pPr indent="0" lvl="0" marL="0" marR="0" rtl="0" algn="ctr">
                        <a:lnSpc>
                          <a:spcPct val="115000"/>
                        </a:lnSpc>
                        <a:spcBef>
                          <a:spcPts val="1200"/>
                        </a:spcBef>
                        <a:spcAft>
                          <a:spcPts val="0"/>
                        </a:spcAft>
                        <a:buNone/>
                      </a:pPr>
                      <a:r>
                        <a:t/>
                      </a:r>
                      <a:endParaRPr b="1" sz="1900" u="sng">
                        <a:latin typeface="Times New Roman"/>
                        <a:ea typeface="Times New Roman"/>
                        <a:cs typeface="Times New Roman"/>
                        <a:sym typeface="Times New Roman"/>
                      </a:endParaRPr>
                    </a:p>
                    <a:p>
                      <a:pPr indent="0" lvl="0" marL="0" marR="0" rtl="0" algn="ctr">
                        <a:lnSpc>
                          <a:spcPct val="115000"/>
                        </a:lnSpc>
                        <a:spcBef>
                          <a:spcPts val="1200"/>
                        </a:spcBef>
                        <a:spcAft>
                          <a:spcPts val="1200"/>
                        </a:spcAft>
                        <a:buNone/>
                      </a:pPr>
                      <a:r>
                        <a:rPr b="1" lang="en-US" sz="1900" u="sng">
                          <a:latin typeface="Times New Roman"/>
                          <a:ea typeface="Times New Roman"/>
                          <a:cs typeface="Times New Roman"/>
                          <a:sym typeface="Times New Roman"/>
                        </a:rPr>
                        <a:t>Spectral AI (DeepView)</a:t>
                      </a:r>
                      <a:endParaRPr b="1" sz="1900" u="sng">
                        <a:latin typeface="Times New Roman"/>
                        <a:ea typeface="Times New Roman"/>
                        <a:cs typeface="Times New Roman"/>
                        <a:sym typeface="Times New Roman"/>
                      </a:endParaRPr>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3D85C6"/>
                    </a:solidFill>
                  </a:tcPr>
                </a:tc>
              </a:tr>
              <a:tr h="1309550">
                <a:tc>
                  <a:txBody>
                    <a:bodyPr/>
                    <a:lstStyle/>
                    <a:p>
                      <a:pPr indent="0" lvl="0" marL="0" rtl="0" algn="ctr">
                        <a:lnSpc>
                          <a:spcPct val="115000"/>
                        </a:lnSpc>
                        <a:spcBef>
                          <a:spcPts val="1200"/>
                        </a:spcBef>
                        <a:spcAft>
                          <a:spcPts val="1200"/>
                        </a:spcAft>
                        <a:buNone/>
                      </a:pPr>
                      <a:r>
                        <a:rPr b="1" lang="en-US"/>
                        <a:t>Spectral Range</a:t>
                      </a:r>
                      <a:endParaRPr b="1"/>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1200"/>
                        </a:spcBef>
                        <a:spcAft>
                          <a:spcPts val="1200"/>
                        </a:spcAft>
                        <a:buNone/>
                      </a:pPr>
                      <a:r>
                        <a:rPr lang="en-US" sz="1300"/>
                        <a:t>- </a:t>
                      </a:r>
                      <a:r>
                        <a:rPr b="1" lang="en-US" sz="1300"/>
                        <a:t>Multispectral bands:</a:t>
                      </a:r>
                      <a:r>
                        <a:rPr lang="en-US" sz="1300"/>
                        <a:t> uses selected visible and near-IR wavelengths (with optional UV fluorescence for detecting pathogens).</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1200"/>
                        </a:spcBef>
                        <a:spcAft>
                          <a:spcPts val="1200"/>
                        </a:spcAft>
                        <a:buNone/>
                      </a:pPr>
                      <a:r>
                        <a:rPr lang="en-US" sz="1300"/>
                        <a:t>- </a:t>
                      </a:r>
                      <a:r>
                        <a:rPr b="1" lang="en-US" sz="1300"/>
                        <a:t>Wide spectrum:</a:t>
                      </a:r>
                      <a:r>
                        <a:rPr lang="en-US" sz="1300"/>
                        <a:t> captures from visible blue light to deep infrared reflectance</a:t>
                      </a:r>
                      <a:r>
                        <a:rPr lang="en-US" sz="1300" u="sng">
                          <a:solidFill>
                            <a:schemeClr val="hlink"/>
                          </a:solidFill>
                          <a:hlinkClick r:id="rId6"/>
                        </a:rPr>
                        <a:t>[6]</a:t>
                      </a:r>
                      <a:r>
                        <a:rPr lang="en-US" sz="1300"/>
                        <a:t> for tissue health assessment.</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r>
              <a:tr h="1540450">
                <a:tc>
                  <a:txBody>
                    <a:bodyPr/>
                    <a:lstStyle/>
                    <a:p>
                      <a:pPr indent="0" lvl="0" marL="0" rtl="0" algn="ctr">
                        <a:lnSpc>
                          <a:spcPct val="115000"/>
                        </a:lnSpc>
                        <a:spcBef>
                          <a:spcPts val="1200"/>
                        </a:spcBef>
                        <a:spcAft>
                          <a:spcPts val="1200"/>
                        </a:spcAft>
                        <a:buNone/>
                      </a:pPr>
                      <a:r>
                        <a:rPr b="1" lang="en-US"/>
                        <a:t>Ease of Deployment</a:t>
                      </a:r>
                      <a:endParaRPr b="1"/>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6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c>
                  <a:txBody>
                    <a:bodyPr/>
                    <a:lstStyle/>
                    <a:p>
                      <a:pPr indent="0" lvl="0" marL="0" rtl="0" algn="ctr">
                        <a:lnSpc>
                          <a:spcPct val="115000"/>
                        </a:lnSpc>
                        <a:spcBef>
                          <a:spcPts val="1200"/>
                        </a:spcBef>
                        <a:spcAft>
                          <a:spcPts val="1200"/>
                        </a:spcAft>
                        <a:buNone/>
                      </a:pPr>
                      <a:r>
                        <a:rPr lang="en-US" sz="1300"/>
                        <a:t>- </a:t>
                      </a:r>
                      <a:r>
                        <a:rPr b="1" lang="en-US" sz="1300"/>
                        <a:t>Easy deployment:</a:t>
                      </a:r>
                      <a:r>
                        <a:rPr lang="en-US" sz="1300"/>
                        <a:t> plug-and-play via smartphone app; minimal training. Field-friendly for on-site use (suitable for PHCs/remote areas)</a:t>
                      </a:r>
                      <a:r>
                        <a:rPr lang="en-US" sz="1300" u="sng">
                          <a:solidFill>
                            <a:schemeClr val="hlink"/>
                          </a:solidFill>
                          <a:hlinkClick r:id="rId7"/>
                        </a:rPr>
                        <a:t>[7]</a:t>
                      </a:r>
                      <a:r>
                        <a:rPr lang="en-US" sz="1300"/>
                        <a:t>.</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6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c>
                  <a:txBody>
                    <a:bodyPr/>
                    <a:lstStyle/>
                    <a:p>
                      <a:pPr indent="0" lvl="0" marL="0" rtl="0" algn="ctr">
                        <a:lnSpc>
                          <a:spcPct val="115000"/>
                        </a:lnSpc>
                        <a:spcBef>
                          <a:spcPts val="1200"/>
                        </a:spcBef>
                        <a:spcAft>
                          <a:spcPts val="1200"/>
                        </a:spcAft>
                        <a:buNone/>
                      </a:pPr>
                      <a:r>
                        <a:rPr lang="en-US" sz="1300"/>
                        <a:t>- </a:t>
                      </a:r>
                      <a:r>
                        <a:rPr b="1" lang="en-US" sz="1300"/>
                        <a:t>Specialized setup:</a:t>
                      </a:r>
                      <a:r>
                        <a:rPr lang="en-US" sz="1300"/>
                        <a:t> requires dedicated device &amp; training; currently in clinical trials and regulatory approval phases (limited availability)</a:t>
                      </a:r>
                      <a:r>
                        <a:rPr lang="en-US" sz="1300" u="sng">
                          <a:solidFill>
                            <a:schemeClr val="hlink"/>
                          </a:solidFill>
                          <a:hlinkClick r:id="rId8"/>
                        </a:rPr>
                        <a:t>[8]</a:t>
                      </a:r>
                      <a:r>
                        <a:rPr lang="en-US" sz="1300"/>
                        <a:t>.</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7625">
                      <a:solidFill>
                        <a:srgbClr val="000000"/>
                      </a:solidFill>
                      <a:prstDash val="solid"/>
                      <a:round/>
                      <a:headEnd len="sm" w="sm" type="none"/>
                      <a:tailEnd len="sm" w="sm" type="none"/>
                    </a:lnT>
                    <a:lnB cap="flat" cmpd="sng" w="9525">
                      <a:solidFill>
                        <a:srgbClr val="9E9E9E"/>
                      </a:solidFill>
                      <a:prstDash val="solid"/>
                      <a:round/>
                      <a:headEnd len="sm" w="sm" type="none"/>
                      <a:tailEnd len="sm" w="sm" type="none"/>
                    </a:lnB>
                    <a:solidFill>
                      <a:srgbClr val="C9DAF8"/>
                    </a:solidFill>
                  </a:tcPr>
                </a:tc>
              </a:tr>
              <a:tr h="1771300">
                <a:tc>
                  <a:txBody>
                    <a:bodyPr/>
                    <a:lstStyle/>
                    <a:p>
                      <a:pPr indent="0" lvl="0" marL="0" rtl="0" algn="ctr">
                        <a:lnSpc>
                          <a:spcPct val="115000"/>
                        </a:lnSpc>
                        <a:spcBef>
                          <a:spcPts val="1200"/>
                        </a:spcBef>
                        <a:spcAft>
                          <a:spcPts val="1200"/>
                        </a:spcAft>
                        <a:buNone/>
                      </a:pPr>
                      <a:r>
                        <a:rPr b="1" lang="en-US"/>
                        <a:t>Diagnostic Breadth</a:t>
                      </a:r>
                      <a:endParaRPr b="1"/>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1200"/>
                        </a:spcBef>
                        <a:spcAft>
                          <a:spcPts val="1200"/>
                        </a:spcAft>
                        <a:buNone/>
                      </a:pPr>
                      <a:r>
                        <a:rPr lang="en-US" sz="1300"/>
                        <a:t>- </a:t>
                      </a:r>
                      <a:r>
                        <a:rPr b="1" lang="en-US" sz="1300"/>
                        <a:t>Multi-purpose:</a:t>
                      </a:r>
                      <a:r>
                        <a:rPr lang="en-US" sz="1300"/>
                        <a:t> evaluates a wide range of skin issues (tracks wound size, detects infection and pathogen type)</a:t>
                      </a:r>
                      <a:r>
                        <a:rPr lang="en-US" sz="1300" u="sng">
                          <a:solidFill>
                            <a:schemeClr val="hlink"/>
                          </a:solidFill>
                          <a:hlinkClick r:id="rId9"/>
                        </a:rPr>
                        <a:t>[10]</a:t>
                      </a:r>
                      <a:r>
                        <a:rPr lang="en-US" sz="1300"/>
                        <a:t>, and can aid general dermatology exams.</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c>
                  <a:txBody>
                    <a:bodyPr/>
                    <a:lstStyle/>
                    <a:p>
                      <a:pPr indent="0" lvl="0" marL="0" rtl="0" algn="ctr">
                        <a:lnSpc>
                          <a:spcPct val="115000"/>
                        </a:lnSpc>
                        <a:spcBef>
                          <a:spcPts val="1200"/>
                        </a:spcBef>
                        <a:spcAft>
                          <a:spcPts val="1200"/>
                        </a:spcAft>
                        <a:buNone/>
                      </a:pPr>
                      <a:r>
                        <a:rPr lang="en-US" sz="1300"/>
                        <a:t>- </a:t>
                      </a:r>
                      <a:r>
                        <a:rPr b="1" lang="en-US" sz="1300"/>
                        <a:t>Narrow scope:</a:t>
                      </a:r>
                      <a:r>
                        <a:rPr lang="en-US" sz="1300"/>
                        <a:t> tailored to chronic wound assessment – gauges tissue viability and healing potential for burns/ulcers</a:t>
                      </a:r>
                      <a:r>
                        <a:rPr lang="en-US" sz="1300" u="sng">
                          <a:solidFill>
                            <a:schemeClr val="hlink"/>
                          </a:solidFill>
                          <a:hlinkClick r:id="rId10"/>
                        </a:rPr>
                        <a:t>[11]</a:t>
                      </a:r>
                      <a:r>
                        <a:rPr lang="en-US" sz="1300"/>
                        <a:t> (not used for other dermatological conditions).</a:t>
                      </a:r>
                      <a:endParaRPr sz="1300"/>
                    </a:p>
                  </a:txBody>
                  <a:tcPr marT="91425" marB="91425" marR="68575" marL="6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7625">
                      <a:solidFill>
                        <a:srgbClr val="000000"/>
                      </a:solidFill>
                      <a:prstDash val="solid"/>
                      <a:round/>
                      <a:headEnd len="sm" w="sm" type="none"/>
                      <a:tailEnd len="sm" w="sm" type="none"/>
                    </a:lnB>
                    <a:solidFill>
                      <a:srgbClr val="C9DAF8"/>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25ace02ada9_0_22"/>
          <p:cNvSpPr txBox="1"/>
          <p:nvPr>
            <p:ph idx="1" type="body"/>
          </p:nvPr>
        </p:nvSpPr>
        <p:spPr>
          <a:xfrm>
            <a:off x="325325" y="1249275"/>
            <a:ext cx="7743000" cy="5386500"/>
          </a:xfrm>
          <a:prstGeom prst="rect">
            <a:avLst/>
          </a:prstGeom>
          <a:solidFill>
            <a:srgbClr val="05539C"/>
          </a:solidFill>
          <a:ln>
            <a:noFill/>
          </a:ln>
        </p:spPr>
        <p:txBody>
          <a:bodyPr anchorCtr="0" anchor="t" bIns="45700" lIns="91425" spcFirstLastPara="1" rIns="91425" wrap="square" tIns="45700">
            <a:normAutofit/>
          </a:bodyPr>
          <a:lstStyle/>
          <a:p>
            <a:pPr indent="0" lvl="0" marL="0" rtl="0" algn="l">
              <a:lnSpc>
                <a:spcPct val="115000"/>
              </a:lnSpc>
              <a:spcBef>
                <a:spcPts val="2400"/>
              </a:spcBef>
              <a:spcAft>
                <a:spcPts val="0"/>
              </a:spcAft>
              <a:buClr>
                <a:schemeClr val="dk1"/>
              </a:buClr>
              <a:buSzPts val="1100"/>
              <a:buFont typeface="Arial"/>
              <a:buNone/>
            </a:pPr>
            <a:r>
              <a:t/>
            </a:r>
            <a:endParaRPr sz="1300">
              <a:solidFill>
                <a:schemeClr val="dk1"/>
              </a:solidFill>
            </a:endParaRPr>
          </a:p>
          <a:p>
            <a:pPr indent="-317500" lvl="0" marL="457200" marR="0" rtl="0" algn="l">
              <a:lnSpc>
                <a:spcPct val="150000"/>
              </a:lnSpc>
              <a:spcBef>
                <a:spcPts val="600"/>
              </a:spcBef>
              <a:spcAft>
                <a:spcPts val="0"/>
              </a:spcAft>
              <a:buClr>
                <a:srgbClr val="FFFFFF"/>
              </a:buClr>
              <a:buSzPts val="1400"/>
              <a:buChar char="•"/>
            </a:pPr>
            <a:r>
              <a:rPr lang="en-US">
                <a:solidFill>
                  <a:srgbClr val="FFFFFF"/>
                </a:solidFill>
              </a:rPr>
              <a:t>Portable, non-contact MSI sensors enable frontline adoption of </a:t>
            </a:r>
            <a:r>
              <a:rPr lang="en-US">
                <a:solidFill>
                  <a:srgbClr val="FFFFFF"/>
                </a:solidFill>
              </a:rPr>
              <a:t>dermatoscopy</a:t>
            </a:r>
            <a:r>
              <a:rPr lang="en-US">
                <a:solidFill>
                  <a:srgbClr val="FFFFFF"/>
                </a:solidFill>
              </a:rPr>
              <a:t> in small clinics</a:t>
            </a:r>
            <a:endParaRPr>
              <a:solidFill>
                <a:srgbClr val="FFFFFF"/>
              </a:solidFill>
            </a:endParaRPr>
          </a:p>
          <a:p>
            <a:pPr indent="-317500" lvl="0" marL="457200" marR="0" rtl="0" algn="l">
              <a:lnSpc>
                <a:spcPct val="150000"/>
              </a:lnSpc>
              <a:spcBef>
                <a:spcPts val="1000"/>
              </a:spcBef>
              <a:spcAft>
                <a:spcPts val="0"/>
              </a:spcAft>
              <a:buClr>
                <a:srgbClr val="FFFFFF"/>
              </a:buClr>
              <a:buSzPts val="1400"/>
              <a:buChar char="•"/>
            </a:pPr>
            <a:r>
              <a:rPr lang="en-US">
                <a:solidFill>
                  <a:srgbClr val="FFFFFF"/>
                </a:solidFill>
              </a:rPr>
              <a:t>Immediate impact on diagnostic accuracy once deployed.</a:t>
            </a:r>
            <a:endParaRPr>
              <a:solidFill>
                <a:srgbClr val="FFFFFF"/>
              </a:solidFill>
            </a:endParaRPr>
          </a:p>
          <a:p>
            <a:pPr indent="-317500" lvl="0" marL="457200" marR="0" rtl="0" algn="l">
              <a:lnSpc>
                <a:spcPct val="150000"/>
              </a:lnSpc>
              <a:spcBef>
                <a:spcPts val="1000"/>
              </a:spcBef>
              <a:spcAft>
                <a:spcPts val="0"/>
              </a:spcAft>
              <a:buClr>
                <a:srgbClr val="FFFFFF"/>
              </a:buClr>
              <a:buSzPts val="1400"/>
              <a:buChar char="•"/>
            </a:pPr>
            <a:r>
              <a:rPr lang="en-US">
                <a:solidFill>
                  <a:srgbClr val="FFFFFF"/>
                </a:solidFill>
              </a:rPr>
              <a:t>Achieve ≥90% accuracy in  infection differentiation using a calibrated multispectral imaging system and cloud based  processing algorithms. </a:t>
            </a:r>
            <a:endParaRPr>
              <a:solidFill>
                <a:srgbClr val="FFFFFF"/>
              </a:solidFill>
            </a:endParaRPr>
          </a:p>
          <a:p>
            <a:pPr indent="-317500" lvl="0" marL="457200" marR="0" rtl="0" algn="l">
              <a:lnSpc>
                <a:spcPct val="150000"/>
              </a:lnSpc>
              <a:spcBef>
                <a:spcPts val="1000"/>
              </a:spcBef>
              <a:spcAft>
                <a:spcPts val="0"/>
              </a:spcAft>
              <a:buClr>
                <a:srgbClr val="FFFFFF"/>
              </a:buClr>
              <a:buSzPts val="1400"/>
              <a:buChar char="•"/>
            </a:pPr>
            <a:r>
              <a:rPr lang="en-US">
                <a:solidFill>
                  <a:srgbClr val="FFFFFF"/>
                </a:solidFill>
              </a:rPr>
              <a:t>Significant reduction in misdiagnosis of infection and AMR at early stage using our AI-Enhanced diagnosis model.</a:t>
            </a:r>
            <a:endParaRPr>
              <a:solidFill>
                <a:srgbClr val="FFFFFF"/>
              </a:solidFill>
            </a:endParaRPr>
          </a:p>
          <a:p>
            <a:pPr indent="-317500" lvl="0" marL="457200" marR="0" rtl="0" algn="l">
              <a:lnSpc>
                <a:spcPct val="150000"/>
              </a:lnSpc>
              <a:spcBef>
                <a:spcPts val="1000"/>
              </a:spcBef>
              <a:spcAft>
                <a:spcPts val="0"/>
              </a:spcAft>
              <a:buClr>
                <a:srgbClr val="FFFFFF"/>
              </a:buClr>
              <a:buSzPts val="1400"/>
              <a:buChar char="•"/>
            </a:pPr>
            <a:r>
              <a:rPr lang="en-US">
                <a:solidFill>
                  <a:srgbClr val="FFFFFF"/>
                </a:solidFill>
              </a:rPr>
              <a:t>The AI-Enhanced Diagnostic Model will significantly accelerate the diagnostic process, reducing evaluation time by a substantial margin and enabling quicker, more efficient clinical decision-making.</a:t>
            </a:r>
            <a:endParaRPr sz="1535">
              <a:solidFill>
                <a:srgbClr val="FFFFFF"/>
              </a:solidFill>
            </a:endParaRPr>
          </a:p>
          <a:p>
            <a:pPr indent="0" lvl="0" marL="0" rtl="0" algn="l">
              <a:lnSpc>
                <a:spcPct val="90000"/>
              </a:lnSpc>
              <a:spcBef>
                <a:spcPts val="1000"/>
              </a:spcBef>
              <a:spcAft>
                <a:spcPts val="0"/>
              </a:spcAft>
              <a:buSzPts val="1800"/>
              <a:buNone/>
            </a:pPr>
            <a:r>
              <a:t/>
            </a:r>
            <a:endParaRPr sz="2000">
              <a:solidFill>
                <a:srgbClr val="888888"/>
              </a:solidFill>
            </a:endParaRPr>
          </a:p>
        </p:txBody>
      </p:sp>
      <p:sp>
        <p:nvSpPr>
          <p:cNvPr id="108" name="Google Shape;108;g25ace02ada9_0_22"/>
          <p:cNvSpPr txBox="1"/>
          <p:nvPr/>
        </p:nvSpPr>
        <p:spPr>
          <a:xfrm>
            <a:off x="3638550" y="238125"/>
            <a:ext cx="50007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5539C"/>
                </a:solidFill>
                <a:latin typeface="Arial"/>
                <a:ea typeface="Arial"/>
                <a:cs typeface="Arial"/>
                <a:sym typeface="Arial"/>
              </a:rPr>
              <a:t>Impact </a:t>
            </a:r>
            <a:endParaRPr b="1" i="0" sz="2800" u="none" cap="none" strike="noStrike">
              <a:solidFill>
                <a:srgbClr val="05539C"/>
              </a:solidFill>
              <a:latin typeface="Arial"/>
              <a:ea typeface="Arial"/>
              <a:cs typeface="Arial"/>
              <a:sym typeface="Arial"/>
            </a:endParaRPr>
          </a:p>
        </p:txBody>
      </p:sp>
      <p:pic>
        <p:nvPicPr>
          <p:cNvPr id="109" name="Google Shape;109;g25ace02ada9_0_22"/>
          <p:cNvPicPr preferRelativeResize="0"/>
          <p:nvPr/>
        </p:nvPicPr>
        <p:blipFill>
          <a:blip r:embed="rId3">
            <a:alphaModFix/>
          </a:blip>
          <a:stretch>
            <a:fillRect/>
          </a:stretch>
        </p:blipFill>
        <p:spPr>
          <a:xfrm>
            <a:off x="8395725" y="931725"/>
            <a:ext cx="3248025" cy="570396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25ace02ada9_0_17"/>
          <p:cNvSpPr txBox="1"/>
          <p:nvPr>
            <p:ph idx="1" type="body"/>
          </p:nvPr>
        </p:nvSpPr>
        <p:spPr>
          <a:xfrm>
            <a:off x="554400" y="1383400"/>
            <a:ext cx="10515600" cy="5109472"/>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sz="2000">
              <a:solidFill>
                <a:srgbClr val="888888"/>
              </a:solidFill>
            </a:endParaRPr>
          </a:p>
        </p:txBody>
      </p:sp>
      <p:sp>
        <p:nvSpPr>
          <p:cNvPr id="115" name="Google Shape;115;g25ace02ada9_0_17"/>
          <p:cNvSpPr txBox="1"/>
          <p:nvPr/>
        </p:nvSpPr>
        <p:spPr>
          <a:xfrm>
            <a:off x="3638550" y="238125"/>
            <a:ext cx="500062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5539C"/>
                </a:solidFill>
                <a:latin typeface="Arial"/>
                <a:ea typeface="Arial"/>
                <a:cs typeface="Arial"/>
                <a:sym typeface="Arial"/>
              </a:rPr>
              <a:t>Project Plan/Methodology</a:t>
            </a:r>
            <a:endParaRPr b="1" i="0" sz="2800" u="none" cap="none" strike="noStrike">
              <a:solidFill>
                <a:srgbClr val="05539C"/>
              </a:solidFill>
              <a:latin typeface="Arial"/>
              <a:ea typeface="Arial"/>
              <a:cs typeface="Arial"/>
              <a:sym typeface="Arial"/>
            </a:endParaRPr>
          </a:p>
        </p:txBody>
      </p:sp>
      <p:pic>
        <p:nvPicPr>
          <p:cNvPr id="116" name="Google Shape;116;g25ace02ada9_0_17" title="10278_2023_826_Fig1_HTML.jpg"/>
          <p:cNvPicPr preferRelativeResize="0"/>
          <p:nvPr/>
        </p:nvPicPr>
        <p:blipFill>
          <a:blip r:embed="rId3">
            <a:alphaModFix/>
          </a:blip>
          <a:stretch>
            <a:fillRect/>
          </a:stretch>
        </p:blipFill>
        <p:spPr>
          <a:xfrm>
            <a:off x="7412250" y="1807687"/>
            <a:ext cx="4612451" cy="3378325"/>
          </a:xfrm>
          <a:prstGeom prst="rect">
            <a:avLst/>
          </a:prstGeom>
          <a:noFill/>
          <a:ln>
            <a:noFill/>
          </a:ln>
        </p:spPr>
      </p:pic>
      <p:sp>
        <p:nvSpPr>
          <p:cNvPr id="117" name="Google Shape;117;g25ace02ada9_0_17"/>
          <p:cNvSpPr txBox="1"/>
          <p:nvPr/>
        </p:nvSpPr>
        <p:spPr>
          <a:xfrm>
            <a:off x="260275" y="1119150"/>
            <a:ext cx="6629700" cy="5469900"/>
          </a:xfrm>
          <a:prstGeom prst="rect">
            <a:avLst/>
          </a:prstGeom>
          <a:solidFill>
            <a:srgbClr val="05539C"/>
          </a:solidFill>
          <a:ln>
            <a:noFill/>
          </a:ln>
        </p:spPr>
        <p:txBody>
          <a:bodyPr anchorCtr="0" anchor="t" bIns="91425" lIns="91425" spcFirstLastPara="1" rIns="91425" wrap="square" tIns="91425">
            <a:noAutofit/>
          </a:bodyPr>
          <a:lstStyle/>
          <a:p>
            <a:pPr indent="-330200" lvl="0" marL="457200" rtl="0" algn="l">
              <a:lnSpc>
                <a:spcPct val="100000"/>
              </a:lnSpc>
              <a:spcBef>
                <a:spcPts val="0"/>
              </a:spcBef>
              <a:spcAft>
                <a:spcPts val="0"/>
              </a:spcAft>
              <a:buClr>
                <a:schemeClr val="lt1"/>
              </a:buClr>
              <a:buSzPts val="1600"/>
              <a:buAutoNum type="arabicPeriod"/>
            </a:pPr>
            <a:r>
              <a:rPr b="1" lang="en-US" sz="1300">
                <a:solidFill>
                  <a:schemeClr val="lt1"/>
                </a:solidFill>
              </a:rPr>
              <a:t>Prototype Development:</a:t>
            </a:r>
            <a:br>
              <a:rPr b="1" lang="en-US" sz="1300">
                <a:solidFill>
                  <a:schemeClr val="lt1"/>
                </a:solidFill>
              </a:rPr>
            </a:br>
            <a:r>
              <a:rPr lang="en-US" sz="1300">
                <a:solidFill>
                  <a:schemeClr val="lt1"/>
                </a:solidFill>
              </a:rPr>
              <a:t> Build hardware using </a:t>
            </a:r>
            <a:r>
              <a:rPr b="1" lang="en-US" sz="1300">
                <a:solidFill>
                  <a:schemeClr val="lt1"/>
                </a:solidFill>
              </a:rPr>
              <a:t>Multispectral Imaging (MSI)</a:t>
            </a:r>
            <a:r>
              <a:rPr lang="en-US" sz="1300">
                <a:solidFill>
                  <a:schemeClr val="lt1"/>
                </a:solidFill>
              </a:rPr>
              <a:t> and complementary </a:t>
            </a:r>
            <a:r>
              <a:rPr b="1" lang="en-US" sz="1300">
                <a:solidFill>
                  <a:schemeClr val="lt1"/>
                </a:solidFill>
              </a:rPr>
              <a:t>sensors</a:t>
            </a:r>
            <a:r>
              <a:rPr lang="en-US" sz="1300">
                <a:solidFill>
                  <a:schemeClr val="lt1"/>
                </a:solidFill>
              </a:rPr>
              <a:t> (e.g., thermal, TEWL, gas/VOC).</a:t>
            </a:r>
            <a:br>
              <a:rPr lang="en-US" sz="1300">
                <a:solidFill>
                  <a:schemeClr val="lt1"/>
                </a:solidFill>
              </a:rPr>
            </a:br>
            <a:endParaRPr sz="1300">
              <a:solidFill>
                <a:schemeClr val="lt1"/>
              </a:solidFill>
            </a:endParaRPr>
          </a:p>
          <a:p>
            <a:pPr indent="-330200" lvl="0" marL="457200" rtl="0" algn="l">
              <a:lnSpc>
                <a:spcPct val="100000"/>
              </a:lnSpc>
              <a:spcBef>
                <a:spcPts val="0"/>
              </a:spcBef>
              <a:spcAft>
                <a:spcPts val="0"/>
              </a:spcAft>
              <a:buClr>
                <a:schemeClr val="lt1"/>
              </a:buClr>
              <a:buSzPts val="1600"/>
              <a:buAutoNum type="arabicPeriod"/>
            </a:pPr>
            <a:r>
              <a:rPr b="1" lang="en-US" sz="1300">
                <a:solidFill>
                  <a:schemeClr val="lt1"/>
                </a:solidFill>
              </a:rPr>
              <a:t>Data Acquisition:</a:t>
            </a:r>
            <a:br>
              <a:rPr b="1" lang="en-US" sz="1300">
                <a:solidFill>
                  <a:schemeClr val="lt1"/>
                </a:solidFill>
              </a:rPr>
            </a:br>
            <a:r>
              <a:rPr lang="en-US" sz="1300">
                <a:solidFill>
                  <a:schemeClr val="lt1"/>
                </a:solidFill>
              </a:rPr>
              <a:t> Capture stacked images across wavelengths to form </a:t>
            </a:r>
            <a:r>
              <a:rPr b="1" lang="en-US" sz="1300">
                <a:solidFill>
                  <a:schemeClr val="lt1"/>
                </a:solidFill>
              </a:rPr>
              <a:t>MSI cubes</a:t>
            </a:r>
            <a:r>
              <a:rPr lang="en-US" sz="1300">
                <a:solidFill>
                  <a:schemeClr val="lt1"/>
                </a:solidFill>
              </a:rPr>
              <a:t>; collect parallel sensor data.</a:t>
            </a:r>
            <a:br>
              <a:rPr lang="en-US" sz="1300">
                <a:solidFill>
                  <a:schemeClr val="lt1"/>
                </a:solidFill>
              </a:rPr>
            </a:br>
            <a:endParaRPr sz="1300">
              <a:solidFill>
                <a:schemeClr val="lt1"/>
              </a:solidFill>
            </a:endParaRPr>
          </a:p>
          <a:p>
            <a:pPr indent="-330200" lvl="0" marL="457200" rtl="0" algn="l">
              <a:lnSpc>
                <a:spcPct val="100000"/>
              </a:lnSpc>
              <a:spcBef>
                <a:spcPts val="0"/>
              </a:spcBef>
              <a:spcAft>
                <a:spcPts val="0"/>
              </a:spcAft>
              <a:buClr>
                <a:schemeClr val="lt1"/>
              </a:buClr>
              <a:buSzPts val="1600"/>
              <a:buAutoNum type="arabicPeriod"/>
            </a:pPr>
            <a:r>
              <a:rPr b="1" lang="en-US" sz="1300">
                <a:solidFill>
                  <a:schemeClr val="lt1"/>
                </a:solidFill>
              </a:rPr>
              <a:t>Dataset Creation:</a:t>
            </a:r>
            <a:br>
              <a:rPr b="1" lang="en-US" sz="1300">
                <a:solidFill>
                  <a:schemeClr val="lt1"/>
                </a:solidFill>
              </a:rPr>
            </a:br>
            <a:r>
              <a:rPr lang="en-US" sz="1300">
                <a:solidFill>
                  <a:schemeClr val="lt1"/>
                </a:solidFill>
              </a:rPr>
              <a:t> Collaborate with </a:t>
            </a:r>
            <a:r>
              <a:rPr b="1" lang="en-US" sz="1300">
                <a:solidFill>
                  <a:schemeClr val="lt1"/>
                </a:solidFill>
              </a:rPr>
              <a:t>clinical experts</a:t>
            </a:r>
            <a:r>
              <a:rPr lang="en-US" sz="1300">
                <a:solidFill>
                  <a:schemeClr val="lt1"/>
                </a:solidFill>
              </a:rPr>
              <a:t> for annotation and dataset curation.</a:t>
            </a:r>
            <a:br>
              <a:rPr lang="en-US" sz="1300">
                <a:solidFill>
                  <a:schemeClr val="lt1"/>
                </a:solidFill>
              </a:rPr>
            </a:br>
            <a:endParaRPr sz="1300">
              <a:solidFill>
                <a:schemeClr val="lt1"/>
              </a:solidFill>
            </a:endParaRPr>
          </a:p>
          <a:p>
            <a:pPr indent="-330200" lvl="0" marL="457200" rtl="0" algn="l">
              <a:lnSpc>
                <a:spcPct val="100000"/>
              </a:lnSpc>
              <a:spcBef>
                <a:spcPts val="0"/>
              </a:spcBef>
              <a:spcAft>
                <a:spcPts val="0"/>
              </a:spcAft>
              <a:buClr>
                <a:schemeClr val="lt1"/>
              </a:buClr>
              <a:buSzPts val="1600"/>
              <a:buAutoNum type="arabicPeriod"/>
            </a:pPr>
            <a:r>
              <a:rPr b="1" lang="en-US" sz="1300">
                <a:solidFill>
                  <a:schemeClr val="lt1"/>
                </a:solidFill>
              </a:rPr>
              <a:t>Model Development:</a:t>
            </a:r>
            <a:br>
              <a:rPr b="1" lang="en-US" sz="1300">
                <a:solidFill>
                  <a:schemeClr val="lt1"/>
                </a:solidFill>
              </a:rPr>
            </a:br>
            <a:r>
              <a:rPr lang="en-US" sz="1300">
                <a:solidFill>
                  <a:schemeClr val="lt1"/>
                </a:solidFill>
              </a:rPr>
              <a:t> Train </a:t>
            </a:r>
            <a:r>
              <a:rPr b="1" lang="en-US" sz="1300">
                <a:solidFill>
                  <a:schemeClr val="lt1"/>
                </a:solidFill>
              </a:rPr>
              <a:t>ML models</a:t>
            </a:r>
            <a:r>
              <a:rPr lang="en-US" sz="1300">
                <a:solidFill>
                  <a:schemeClr val="lt1"/>
                </a:solidFill>
              </a:rPr>
              <a:t> to identify patterns, classify conditions, and provide diagnostic output.</a:t>
            </a:r>
            <a:br>
              <a:rPr lang="en-US" sz="1300">
                <a:solidFill>
                  <a:schemeClr val="lt1"/>
                </a:solidFill>
              </a:rPr>
            </a:br>
            <a:endParaRPr sz="1300">
              <a:solidFill>
                <a:schemeClr val="lt1"/>
              </a:solidFill>
            </a:endParaRPr>
          </a:p>
          <a:p>
            <a:pPr indent="-330200" lvl="0" marL="457200" rtl="0" algn="l">
              <a:lnSpc>
                <a:spcPct val="100000"/>
              </a:lnSpc>
              <a:spcBef>
                <a:spcPts val="0"/>
              </a:spcBef>
              <a:spcAft>
                <a:spcPts val="0"/>
              </a:spcAft>
              <a:buClr>
                <a:schemeClr val="lt1"/>
              </a:buClr>
              <a:buSzPts val="1600"/>
              <a:buAutoNum type="arabicPeriod"/>
            </a:pPr>
            <a:r>
              <a:rPr b="1" lang="en-US" sz="1300">
                <a:solidFill>
                  <a:schemeClr val="lt1"/>
                </a:solidFill>
              </a:rPr>
              <a:t>Application Integration:</a:t>
            </a:r>
            <a:br>
              <a:rPr b="1" lang="en-US" sz="1300">
                <a:solidFill>
                  <a:schemeClr val="lt1"/>
                </a:solidFill>
              </a:rPr>
            </a:br>
            <a:r>
              <a:rPr lang="en-US" sz="1300">
                <a:solidFill>
                  <a:schemeClr val="lt1"/>
                </a:solidFill>
              </a:rPr>
              <a:t> Develop a </a:t>
            </a:r>
            <a:r>
              <a:rPr b="1" lang="en-US" sz="1300">
                <a:solidFill>
                  <a:schemeClr val="lt1"/>
                </a:solidFill>
              </a:rPr>
              <a:t>clinician-facing app</a:t>
            </a:r>
            <a:r>
              <a:rPr lang="en-US" sz="1300">
                <a:solidFill>
                  <a:schemeClr val="lt1"/>
                </a:solidFill>
              </a:rPr>
              <a:t> integrated with the trained model for real-time use.</a:t>
            </a:r>
            <a:br>
              <a:rPr lang="en-US" sz="1300">
                <a:solidFill>
                  <a:schemeClr val="lt1"/>
                </a:solidFill>
              </a:rPr>
            </a:br>
            <a:endParaRPr sz="1300">
              <a:solidFill>
                <a:schemeClr val="lt1"/>
              </a:solidFill>
            </a:endParaRPr>
          </a:p>
          <a:p>
            <a:pPr indent="-330200" lvl="0" marL="457200" rtl="0" algn="l">
              <a:lnSpc>
                <a:spcPct val="100000"/>
              </a:lnSpc>
              <a:spcBef>
                <a:spcPts val="0"/>
              </a:spcBef>
              <a:spcAft>
                <a:spcPts val="0"/>
              </a:spcAft>
              <a:buClr>
                <a:schemeClr val="lt1"/>
              </a:buClr>
              <a:buSzPts val="1600"/>
              <a:buAutoNum type="arabicPeriod"/>
            </a:pPr>
            <a:r>
              <a:rPr b="1" lang="en-US" sz="1300">
                <a:solidFill>
                  <a:schemeClr val="lt1"/>
                </a:solidFill>
              </a:rPr>
              <a:t>Validation &amp; Deployment:</a:t>
            </a:r>
            <a:br>
              <a:rPr b="1" lang="en-US" sz="1300">
                <a:solidFill>
                  <a:schemeClr val="lt1"/>
                </a:solidFill>
              </a:rPr>
            </a:br>
            <a:r>
              <a:rPr lang="en-US" sz="1300">
                <a:solidFill>
                  <a:schemeClr val="lt1"/>
                </a:solidFill>
              </a:rPr>
              <a:t> Pilot the system in a </a:t>
            </a:r>
            <a:r>
              <a:rPr b="1" lang="en-US" sz="1300">
                <a:solidFill>
                  <a:schemeClr val="lt1"/>
                </a:solidFill>
              </a:rPr>
              <a:t>clinical setting</a:t>
            </a:r>
            <a:r>
              <a:rPr lang="en-US" sz="1300">
                <a:solidFill>
                  <a:schemeClr val="lt1"/>
                </a:solidFill>
              </a:rPr>
              <a:t> for performance validation.</a:t>
            </a:r>
            <a:br>
              <a:rPr lang="en-US" sz="1300">
                <a:solidFill>
                  <a:schemeClr val="lt1"/>
                </a:solidFill>
              </a:rPr>
            </a:br>
            <a:endParaRPr sz="1300">
              <a:solidFill>
                <a:schemeClr val="lt1"/>
              </a:solidFill>
            </a:endParaRPr>
          </a:p>
          <a:p>
            <a:pPr indent="-330200" lvl="0" marL="457200" rtl="0" algn="l">
              <a:lnSpc>
                <a:spcPct val="100000"/>
              </a:lnSpc>
              <a:spcBef>
                <a:spcPts val="0"/>
              </a:spcBef>
              <a:spcAft>
                <a:spcPts val="0"/>
              </a:spcAft>
              <a:buClr>
                <a:schemeClr val="lt1"/>
              </a:buClr>
              <a:buSzPts val="1600"/>
              <a:buAutoNum type="arabicPeriod"/>
            </a:pPr>
            <a:r>
              <a:rPr b="1" lang="en-US" sz="1300">
                <a:solidFill>
                  <a:schemeClr val="lt1"/>
                </a:solidFill>
              </a:rPr>
              <a:t>Certification &amp; Scale-Up:</a:t>
            </a:r>
            <a:br>
              <a:rPr b="1" lang="en-US" sz="1300">
                <a:solidFill>
                  <a:schemeClr val="lt1"/>
                </a:solidFill>
              </a:rPr>
            </a:br>
            <a:r>
              <a:rPr lang="en-US" sz="1300">
                <a:solidFill>
                  <a:schemeClr val="lt1"/>
                </a:solidFill>
              </a:rPr>
              <a:t> Pursue regulatory </a:t>
            </a:r>
            <a:r>
              <a:rPr b="1" lang="en-US" sz="1300">
                <a:solidFill>
                  <a:schemeClr val="lt1"/>
                </a:solidFill>
              </a:rPr>
              <a:t>certifications</a:t>
            </a:r>
            <a:r>
              <a:rPr lang="en-US" sz="1300">
                <a:solidFill>
                  <a:schemeClr val="lt1"/>
                </a:solidFill>
              </a:rPr>
              <a:t> and licensing based on validation outcomes.</a:t>
            </a:r>
            <a:endParaRPr sz="1300">
              <a:solidFill>
                <a:schemeClr val="lt1"/>
              </a:solidFill>
            </a:endParaRPr>
          </a:p>
          <a:p>
            <a:pPr indent="0" lvl="0" marL="457200" marR="0" rtl="0" algn="l">
              <a:lnSpc>
                <a:spcPct val="100000"/>
              </a:lnSpc>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graphicFrame>
        <p:nvGraphicFramePr>
          <p:cNvPr id="122" name="Google Shape;122;p16"/>
          <p:cNvGraphicFramePr/>
          <p:nvPr/>
        </p:nvGraphicFramePr>
        <p:xfrm>
          <a:off x="958189" y="1203990"/>
          <a:ext cx="3000000" cy="3000000"/>
        </p:xfrm>
        <a:graphic>
          <a:graphicData uri="http://schemas.openxmlformats.org/drawingml/2006/table">
            <a:tbl>
              <a:tblPr bandRow="1" firstRow="1">
                <a:noFill/>
                <a:tableStyleId>{9BAD4DCC-C6C8-45AA-A3E1-CD54635BC7C7}</a:tableStyleId>
              </a:tblPr>
              <a:tblGrid>
                <a:gridCol w="1782350"/>
                <a:gridCol w="4985250"/>
                <a:gridCol w="3350400"/>
              </a:tblGrid>
              <a:tr h="553525">
                <a:tc>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solidFill>
                          <a:schemeClr val="dk1"/>
                        </a:solidFill>
                      </a:endParaRPr>
                    </a:p>
                  </a:txBody>
                  <a:tcPr marT="45725" marB="45725" marR="91450" marL="91450"/>
                </a:tc>
                <a:tc>
                  <a:txBody>
                    <a:bodyPr/>
                    <a:lstStyle/>
                    <a:p>
                      <a:pPr indent="0" lvl="0" marL="0" marR="0" rtl="0" algn="just">
                        <a:lnSpc>
                          <a:spcPct val="100000"/>
                        </a:lnSpc>
                        <a:spcBef>
                          <a:spcPts val="0"/>
                        </a:spcBef>
                        <a:spcAft>
                          <a:spcPts val="0"/>
                        </a:spcAft>
                        <a:buClr>
                          <a:srgbClr val="000000"/>
                        </a:buClr>
                        <a:buSzPts val="1100"/>
                        <a:buFont typeface="Arial"/>
                        <a:buNone/>
                      </a:pPr>
                      <a:r>
                        <a:t/>
                      </a:r>
                      <a:endParaRPr b="1" sz="1100" u="none" cap="none" strike="noStrike">
                        <a:solidFill>
                          <a:schemeClr val="dk1"/>
                        </a:solidFill>
                        <a:latin typeface="Arial"/>
                        <a:ea typeface="Arial"/>
                        <a:cs typeface="Arial"/>
                        <a:sym typeface="Arial"/>
                      </a:endParaRPr>
                    </a:p>
                    <a:p>
                      <a:pPr indent="0" lvl="0" marL="0" marR="0" rtl="0" algn="ctr">
                        <a:lnSpc>
                          <a:spcPct val="100000"/>
                        </a:lnSpc>
                        <a:spcBef>
                          <a:spcPts val="500"/>
                        </a:spcBef>
                        <a:spcAft>
                          <a:spcPts val="0"/>
                        </a:spcAft>
                        <a:buClr>
                          <a:srgbClr val="000000"/>
                        </a:buClr>
                        <a:buSzPts val="1100"/>
                        <a:buFont typeface="Arial"/>
                        <a:buNone/>
                      </a:pPr>
                      <a:r>
                        <a:rPr b="1" lang="en-US" sz="1100" u="none" cap="none" strike="noStrike">
                          <a:solidFill>
                            <a:schemeClr val="dk1"/>
                          </a:solidFill>
                          <a:latin typeface="Arial"/>
                          <a:ea typeface="Arial"/>
                          <a:cs typeface="Arial"/>
                          <a:sym typeface="Arial"/>
                        </a:rPr>
                        <a:t>Milestone Details</a:t>
                      </a:r>
                      <a:endParaRPr sz="1100" u="none" cap="none" strike="noStrike">
                        <a:solidFill>
                          <a:schemeClr val="dk1"/>
                        </a:solidFill>
                        <a:latin typeface="Times New Roman"/>
                        <a:ea typeface="Times New Roman"/>
                        <a:cs typeface="Times New Roman"/>
                        <a:sym typeface="Times New Roman"/>
                      </a:endParaRPr>
                    </a:p>
                  </a:txBody>
                  <a:tcPr marT="0" marB="0" marR="68575" marL="68575"/>
                </a:tc>
                <a:tc>
                  <a:txBody>
                    <a:bodyPr/>
                    <a:lstStyle/>
                    <a:p>
                      <a:pPr indent="0" lvl="0" marL="0" marR="0" rtl="0" algn="ctr">
                        <a:lnSpc>
                          <a:spcPct val="100000"/>
                        </a:lnSpc>
                        <a:spcBef>
                          <a:spcPts val="500"/>
                        </a:spcBef>
                        <a:spcAft>
                          <a:spcPts val="0"/>
                        </a:spcAft>
                        <a:buClr>
                          <a:srgbClr val="000000"/>
                        </a:buClr>
                        <a:buSzPts val="1100"/>
                        <a:buFont typeface="Arial"/>
                        <a:buNone/>
                      </a:pPr>
                      <a:r>
                        <a:rPr b="1" lang="en-US" sz="1100" u="none" cap="none" strike="noStrike">
                          <a:solidFill>
                            <a:schemeClr val="dk1"/>
                          </a:solidFill>
                          <a:latin typeface="Arial"/>
                          <a:ea typeface="Arial"/>
                          <a:cs typeface="Arial"/>
                          <a:sym typeface="Arial"/>
                        </a:rPr>
                        <a:t>Time Period Required from To ( To Being Project Start Date)</a:t>
                      </a:r>
                      <a:endParaRPr sz="1100" u="none" cap="none" strike="noStrike">
                        <a:solidFill>
                          <a:schemeClr val="dk1"/>
                        </a:solidFill>
                        <a:latin typeface="Times New Roman"/>
                        <a:ea typeface="Times New Roman"/>
                        <a:cs typeface="Times New Roman"/>
                        <a:sym typeface="Times New Roman"/>
                      </a:endParaRPr>
                    </a:p>
                  </a:txBody>
                  <a:tcPr marT="0" marB="0" marR="68575" marL="68575" anchor="ctr"/>
                </a:tc>
              </a:tr>
              <a:tr h="921775">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solidFill>
                            <a:schemeClr val="dk1"/>
                          </a:solidFill>
                          <a:latin typeface="Arial"/>
                          <a:ea typeface="Arial"/>
                          <a:cs typeface="Arial"/>
                          <a:sym typeface="Arial"/>
                        </a:rPr>
                        <a:t>Milestone 1:</a:t>
                      </a:r>
                      <a:endParaRPr b="1" sz="1100" u="none" cap="none" strike="noStrike">
                        <a:solidFill>
                          <a:schemeClr val="dk1"/>
                        </a:solidFill>
                        <a:latin typeface="Times New Roman"/>
                        <a:ea typeface="Times New Roman"/>
                        <a:cs typeface="Times New Roman"/>
                        <a:sym typeface="Times New Roman"/>
                      </a:endParaRPr>
                    </a:p>
                  </a:txBody>
                  <a:tcPr marT="0" marB="0" marR="68575" marL="68575" anchor="ctr"/>
                </a:tc>
                <a:tc>
                  <a:txBody>
                    <a:bodyPr/>
                    <a:lstStyle/>
                    <a:p>
                      <a:pPr indent="0" lvl="0" marL="0" rtl="0" algn="ctr">
                        <a:lnSpc>
                          <a:spcPct val="150000"/>
                        </a:lnSpc>
                        <a:spcBef>
                          <a:spcPts val="1200"/>
                        </a:spcBef>
                        <a:spcAft>
                          <a:spcPts val="1200"/>
                        </a:spcAft>
                        <a:buClr>
                          <a:schemeClr val="dk1"/>
                        </a:buClr>
                        <a:buSzPts val="1100"/>
                        <a:buFont typeface="Arial"/>
                        <a:buNone/>
                      </a:pPr>
                      <a:r>
                        <a:rPr lang="en-US" sz="1200">
                          <a:latin typeface="Times New Roman"/>
                          <a:ea typeface="Times New Roman"/>
                          <a:cs typeface="Times New Roman"/>
                          <a:sym typeface="Times New Roman"/>
                        </a:rPr>
                        <a:t>Literature review, clinical gap identification, stakeholder consultation, Prototype designing, </a:t>
                      </a:r>
                      <a:r>
                        <a:rPr lang="en-US" sz="1200">
                          <a:latin typeface="Times New Roman"/>
                          <a:ea typeface="Times New Roman"/>
                          <a:cs typeface="Times New Roman"/>
                          <a:sym typeface="Times New Roman"/>
                        </a:rPr>
                        <a:t>MSI device concept design and wavelength band selection (Optical simulation, component selection, lighting/sensor strategy)</a:t>
                      </a:r>
                      <a:endParaRPr sz="1200">
                        <a:latin typeface="Times New Roman"/>
                        <a:ea typeface="Times New Roman"/>
                        <a:cs typeface="Times New Roman"/>
                        <a:sym typeface="Times New Roman"/>
                      </a:endParaRPr>
                    </a:p>
                  </a:txBody>
                  <a:tcPr marT="45725" marB="228600" marR="91450" marL="91450" anchor="ctr"/>
                </a:tc>
                <a:tc>
                  <a:txBody>
                    <a:bodyPr/>
                    <a:lstStyle/>
                    <a:p>
                      <a:pPr indent="0" lvl="0" marL="177800" rtl="0" algn="ctr">
                        <a:lnSpc>
                          <a:spcPct val="150000"/>
                        </a:lnSpc>
                        <a:spcBef>
                          <a:spcPts val="1200"/>
                        </a:spcBef>
                        <a:spcAft>
                          <a:spcPts val="1200"/>
                        </a:spcAft>
                        <a:buClr>
                          <a:schemeClr val="dk1"/>
                        </a:buClr>
                        <a:buSzPts val="1100"/>
                        <a:buFont typeface="Arial"/>
                        <a:buNone/>
                      </a:pPr>
                      <a:r>
                        <a:rPr lang="en-US" sz="1200">
                          <a:latin typeface="Times New Roman"/>
                          <a:ea typeface="Times New Roman"/>
                          <a:cs typeface="Times New Roman"/>
                          <a:sym typeface="Times New Roman"/>
                        </a:rPr>
                        <a:t>T0 - T0+3 months</a:t>
                      </a:r>
                      <a:endParaRPr sz="1400" u="none" cap="none" strike="noStrike">
                        <a:solidFill>
                          <a:schemeClr val="dk1"/>
                        </a:solidFill>
                      </a:endParaRPr>
                    </a:p>
                  </a:txBody>
                  <a:tcPr marT="45725" marB="45725" marR="91450" marL="91450" anchor="ctr"/>
                </a:tc>
              </a:tr>
              <a:tr h="105675">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solidFill>
                            <a:schemeClr val="dk1"/>
                          </a:solidFill>
                          <a:latin typeface="Arial"/>
                          <a:ea typeface="Arial"/>
                          <a:cs typeface="Arial"/>
                          <a:sym typeface="Arial"/>
                        </a:rPr>
                        <a:t>Milestone 2:</a:t>
                      </a:r>
                      <a:endParaRPr b="1" sz="1100" u="none" cap="none" strike="noStrike">
                        <a:solidFill>
                          <a:schemeClr val="dk1"/>
                        </a:solidFill>
                        <a:latin typeface="Times New Roman"/>
                        <a:ea typeface="Times New Roman"/>
                        <a:cs typeface="Times New Roman"/>
                        <a:sym typeface="Times New Roman"/>
                      </a:endParaRPr>
                    </a:p>
                  </a:txBody>
                  <a:tcPr marT="0" marB="0" marR="68575" marL="68575" anchor="ctr">
                    <a:lnB cap="flat" cmpd="sng" w="12700">
                      <a:solidFill>
                        <a:schemeClr val="lt1"/>
                      </a:solidFill>
                      <a:prstDash val="solid"/>
                      <a:round/>
                      <a:headEnd len="sm" w="sm" type="none"/>
                      <a:tailEnd len="sm" w="sm" type="none"/>
                    </a:lnB>
                  </a:tcPr>
                </a:tc>
                <a:tc>
                  <a:txBody>
                    <a:bodyPr/>
                    <a:lstStyle/>
                    <a:p>
                      <a:pPr indent="0" lvl="0" marL="0" rtl="0" algn="ctr">
                        <a:lnSpc>
                          <a:spcPct val="150000"/>
                        </a:lnSpc>
                        <a:spcBef>
                          <a:spcPts val="1200"/>
                        </a:spcBef>
                        <a:spcAft>
                          <a:spcPts val="0"/>
                        </a:spcAft>
                        <a:buClr>
                          <a:schemeClr val="dk1"/>
                        </a:buClr>
                        <a:buSzPts val="1100"/>
                        <a:buFont typeface="Arial"/>
                        <a:buNone/>
                      </a:pPr>
                      <a:r>
                        <a:rPr lang="en-US" sz="1200">
                          <a:latin typeface="Times New Roman"/>
                          <a:ea typeface="Times New Roman"/>
                          <a:cs typeface="Times New Roman"/>
                          <a:sym typeface="Times New Roman"/>
                        </a:rPr>
                        <a:t>Final product designing, </a:t>
                      </a:r>
                      <a:r>
                        <a:rPr lang="en-US" sz="1200">
                          <a:latin typeface="Times New Roman"/>
                          <a:ea typeface="Times New Roman"/>
                          <a:cs typeface="Times New Roman"/>
                          <a:sym typeface="Times New Roman"/>
                        </a:rPr>
                        <a:t>Hardware-software integration and internal testing (Functional device with MSI + AI + app pipeline; testing with synthetic data)</a:t>
                      </a:r>
                      <a:endParaRPr sz="1200">
                        <a:latin typeface="Times New Roman"/>
                        <a:ea typeface="Times New Roman"/>
                        <a:cs typeface="Times New Roman"/>
                        <a:sym typeface="Times New Roman"/>
                      </a:endParaRPr>
                    </a:p>
                  </a:txBody>
                  <a:tcPr marT="45725" marB="457200" marR="91450" marL="91450" anchor="ctr">
                    <a:lnB cap="flat" cmpd="sng" w="12700">
                      <a:solidFill>
                        <a:schemeClr val="lt1"/>
                      </a:solidFill>
                      <a:prstDash val="solid"/>
                      <a:round/>
                      <a:headEnd len="sm" w="sm" type="none"/>
                      <a:tailEnd len="sm" w="sm" type="none"/>
                    </a:lnB>
                  </a:tcPr>
                </a:tc>
                <a:tc>
                  <a:txBody>
                    <a:bodyPr/>
                    <a:lstStyle/>
                    <a:p>
                      <a:pPr indent="0" lvl="0" marL="177800" rtl="0" algn="ctr">
                        <a:lnSpc>
                          <a:spcPct val="150000"/>
                        </a:lnSpc>
                        <a:spcBef>
                          <a:spcPts val="1200"/>
                        </a:spcBef>
                        <a:spcAft>
                          <a:spcPts val="1200"/>
                        </a:spcAft>
                        <a:buClr>
                          <a:schemeClr val="dk1"/>
                        </a:buClr>
                        <a:buSzPts val="1100"/>
                        <a:buFont typeface="Arial"/>
                        <a:buNone/>
                      </a:pPr>
                      <a:r>
                        <a:rPr lang="en-US" sz="1200">
                          <a:latin typeface="Times New Roman"/>
                          <a:ea typeface="Times New Roman"/>
                          <a:cs typeface="Times New Roman"/>
                          <a:sym typeface="Times New Roman"/>
                        </a:rPr>
                        <a:t>T0+3 - T0+9 months</a:t>
                      </a:r>
                      <a:endParaRPr sz="1400" u="none" cap="none" strike="noStrike">
                        <a:solidFill>
                          <a:schemeClr val="dk1"/>
                        </a:solidFill>
                      </a:endParaRPr>
                    </a:p>
                  </a:txBody>
                  <a:tcPr marT="45725" marB="45725" marR="91450" marL="91450" anchor="ctr"/>
                </a:tc>
              </a:tr>
              <a:tr h="1131450">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solidFill>
                            <a:schemeClr val="dk1"/>
                          </a:solidFill>
                          <a:latin typeface="Arial"/>
                          <a:ea typeface="Arial"/>
                          <a:cs typeface="Arial"/>
                          <a:sym typeface="Arial"/>
                        </a:rPr>
                        <a:t>Milestone 3:</a:t>
                      </a:r>
                      <a:endParaRPr b="1" sz="1100" u="none" cap="none" strike="noStrike">
                        <a:solidFill>
                          <a:schemeClr val="dk1"/>
                        </a:solidFill>
                        <a:latin typeface="Times New Roman"/>
                        <a:ea typeface="Times New Roman"/>
                        <a:cs typeface="Times New Roman"/>
                        <a:sym typeface="Times New Roman"/>
                      </a:endParaRPr>
                    </a:p>
                  </a:txBody>
                  <a:tcPr marT="0" marB="0" marR="68575" marL="68575"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lnSpc>
                          <a:spcPct val="150000"/>
                        </a:lnSpc>
                        <a:spcBef>
                          <a:spcPts val="1200"/>
                        </a:spcBef>
                        <a:spcAft>
                          <a:spcPts val="1200"/>
                        </a:spcAft>
                        <a:buClr>
                          <a:schemeClr val="dk1"/>
                        </a:buClr>
                        <a:buSzPts val="1100"/>
                        <a:buFont typeface="Arial"/>
                        <a:buNone/>
                      </a:pPr>
                      <a:r>
                        <a:rPr lang="en-US" sz="1200">
                          <a:latin typeface="Times New Roman"/>
                          <a:ea typeface="Times New Roman"/>
                          <a:cs typeface="Times New Roman"/>
                          <a:sym typeface="Times New Roman"/>
                        </a:rPr>
                        <a:t>Dataset collection and MSI data acquisition (collecting data for training the model), </a:t>
                      </a:r>
                      <a:r>
                        <a:rPr lang="en-US" sz="1200">
                          <a:latin typeface="Times New Roman"/>
                          <a:ea typeface="Times New Roman"/>
                          <a:cs typeface="Times New Roman"/>
                          <a:sym typeface="Times New Roman"/>
                        </a:rPr>
                        <a:t>Model development and validation (Train CNN for classification of wounds, infections, rashes, other skin issue</a:t>
                      </a:r>
                      <a:r>
                        <a:rPr lang="en-US">
                          <a:latin typeface="Times New Roman"/>
                          <a:ea typeface="Times New Roman"/>
                          <a:cs typeface="Times New Roman"/>
                          <a:sym typeface="Times New Roman"/>
                        </a:rPr>
                        <a:t>s</a:t>
                      </a:r>
                      <a:r>
                        <a:rPr lang="en-US" sz="1200">
                          <a:latin typeface="Times New Roman"/>
                          <a:ea typeface="Times New Roman"/>
                          <a:cs typeface="Times New Roman"/>
                          <a:sym typeface="Times New Roman"/>
                        </a:rPr>
                        <a:t>),  </a:t>
                      </a:r>
                      <a:r>
                        <a:rPr lang="en-US" sz="1200">
                          <a:latin typeface="Times New Roman"/>
                          <a:ea typeface="Times New Roman"/>
                          <a:cs typeface="Times New Roman"/>
                          <a:sym typeface="Times New Roman"/>
                        </a:rPr>
                        <a:t>App and backend development (Integrating with the model and developing a software)</a:t>
                      </a:r>
                      <a:endParaRPr sz="1200">
                        <a:latin typeface="Times New Roman"/>
                        <a:ea typeface="Times New Roman"/>
                        <a:cs typeface="Times New Roman"/>
                        <a:sym typeface="Times New Roman"/>
                      </a:endParaRPr>
                    </a:p>
                  </a:txBody>
                  <a:tcPr marT="45725" marB="228600" marR="91450" marL="91450" anchor="ctr">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177800" rtl="0" algn="ctr">
                        <a:lnSpc>
                          <a:spcPct val="150000"/>
                        </a:lnSpc>
                        <a:spcBef>
                          <a:spcPts val="1200"/>
                        </a:spcBef>
                        <a:spcAft>
                          <a:spcPts val="1200"/>
                        </a:spcAft>
                        <a:buClr>
                          <a:schemeClr val="dk1"/>
                        </a:buClr>
                        <a:buSzPts val="1100"/>
                        <a:buFont typeface="Arial"/>
                        <a:buNone/>
                      </a:pPr>
                      <a:r>
                        <a:rPr lang="en-US" sz="1200">
                          <a:latin typeface="Times New Roman"/>
                          <a:ea typeface="Times New Roman"/>
                          <a:cs typeface="Times New Roman"/>
                          <a:sym typeface="Times New Roman"/>
                        </a:rPr>
                        <a:t>T0+9 - T0+15 months</a:t>
                      </a:r>
                      <a:endParaRPr sz="1400" u="none" cap="none" strike="noStrike">
                        <a:solidFill>
                          <a:schemeClr val="dk1"/>
                        </a:solidFill>
                      </a:endParaRPr>
                    </a:p>
                  </a:txBody>
                  <a:tcPr marT="45725" marB="45725" marR="91450" marL="91450" anchor="ctr">
                    <a:lnL cap="flat" cmpd="sng" w="12700">
                      <a:solidFill>
                        <a:schemeClr val="lt1"/>
                      </a:solidFill>
                      <a:prstDash val="solid"/>
                      <a:round/>
                      <a:headEnd len="sm" w="sm" type="none"/>
                      <a:tailEnd len="sm" w="sm" type="none"/>
                    </a:lnL>
                  </a:tcPr>
                </a:tc>
              </a:tr>
              <a:tr h="641925">
                <a:tc>
                  <a:txBody>
                    <a:bodyPr/>
                    <a:lstStyle/>
                    <a:p>
                      <a:pPr indent="0" lvl="0" marL="0" marR="0" rtl="0" algn="ctr">
                        <a:lnSpc>
                          <a:spcPct val="100000"/>
                        </a:lnSpc>
                        <a:spcBef>
                          <a:spcPts val="0"/>
                        </a:spcBef>
                        <a:spcAft>
                          <a:spcPts val="0"/>
                        </a:spcAft>
                        <a:buClr>
                          <a:srgbClr val="000000"/>
                        </a:buClr>
                        <a:buSzPts val="1100"/>
                        <a:buFont typeface="Arial"/>
                        <a:buNone/>
                      </a:pPr>
                      <a:r>
                        <a:rPr b="1" lang="en-US" sz="1100" u="none" cap="none" strike="noStrike">
                          <a:solidFill>
                            <a:schemeClr val="dk1"/>
                          </a:solidFill>
                          <a:latin typeface="Arial"/>
                          <a:ea typeface="Arial"/>
                          <a:cs typeface="Arial"/>
                          <a:sym typeface="Arial"/>
                        </a:rPr>
                        <a:t>Milestone 4:</a:t>
                      </a:r>
                      <a:endParaRPr b="1" sz="1100" u="none" cap="none" strike="noStrike">
                        <a:solidFill>
                          <a:schemeClr val="dk1"/>
                        </a:solidFill>
                        <a:latin typeface="Times New Roman"/>
                        <a:ea typeface="Times New Roman"/>
                        <a:cs typeface="Times New Roman"/>
                        <a:sym typeface="Times New Roman"/>
                      </a:endParaRPr>
                    </a:p>
                  </a:txBody>
                  <a:tcPr marT="0" marB="0" marR="68575" marL="68575" anchor="ctr">
                    <a:lnT cap="flat" cmpd="sng" w="38100">
                      <a:solidFill>
                        <a:schemeClr val="lt1"/>
                      </a:solidFill>
                      <a:prstDash val="solid"/>
                      <a:round/>
                      <a:headEnd len="sm" w="sm" type="none"/>
                      <a:tailEnd len="sm" w="sm" type="none"/>
                    </a:lnT>
                  </a:tcPr>
                </a:tc>
                <a:tc>
                  <a:txBody>
                    <a:bodyPr/>
                    <a:lstStyle/>
                    <a:p>
                      <a:pPr indent="0" lvl="0" marL="0" rtl="0" algn="ctr">
                        <a:lnSpc>
                          <a:spcPct val="150000"/>
                        </a:lnSpc>
                        <a:spcBef>
                          <a:spcPts val="1200"/>
                        </a:spcBef>
                        <a:spcAft>
                          <a:spcPts val="1200"/>
                        </a:spcAft>
                        <a:buClr>
                          <a:schemeClr val="dk1"/>
                        </a:buClr>
                        <a:buSzPts val="1100"/>
                        <a:buFont typeface="Arial"/>
                        <a:buNone/>
                      </a:pPr>
                      <a:r>
                        <a:rPr lang="en-US" sz="1200">
                          <a:latin typeface="Times New Roman"/>
                          <a:ea typeface="Times New Roman"/>
                          <a:cs typeface="Times New Roman"/>
                          <a:sym typeface="Times New Roman"/>
                        </a:rPr>
                        <a:t>Field testing (Validate accuracy, usability with doctors and health workers), </a:t>
                      </a:r>
                      <a:r>
                        <a:rPr lang="en-US" sz="1200">
                          <a:latin typeface="Times New Roman"/>
                          <a:ea typeface="Times New Roman"/>
                          <a:cs typeface="Times New Roman"/>
                          <a:sym typeface="Times New Roman"/>
                        </a:rPr>
                        <a:t>Regulatory alignment, certification preparation,Final documentation, project report and pitch materials (Hand-off, tech transfer, research publication and investor readiness)</a:t>
                      </a:r>
                      <a:endParaRPr sz="1400" u="none" cap="none" strike="noStrike">
                        <a:solidFill>
                          <a:schemeClr val="dk1"/>
                        </a:solidFill>
                      </a:endParaRPr>
                    </a:p>
                  </a:txBody>
                  <a:tcPr marT="45725" marB="228600" marR="91450" marL="91450" anchor="ctr">
                    <a:lnT cap="flat" cmpd="sng" w="38100">
                      <a:solidFill>
                        <a:schemeClr val="lt1"/>
                      </a:solidFill>
                      <a:prstDash val="solid"/>
                      <a:round/>
                      <a:headEnd len="sm" w="sm" type="none"/>
                      <a:tailEnd len="sm" w="sm" type="none"/>
                    </a:lnT>
                  </a:tcPr>
                </a:tc>
                <a:tc>
                  <a:txBody>
                    <a:bodyPr/>
                    <a:lstStyle/>
                    <a:p>
                      <a:pPr indent="0" lvl="0" marL="177800" rtl="0" algn="ctr">
                        <a:lnSpc>
                          <a:spcPct val="150000"/>
                        </a:lnSpc>
                        <a:spcBef>
                          <a:spcPts val="1200"/>
                        </a:spcBef>
                        <a:spcAft>
                          <a:spcPts val="1200"/>
                        </a:spcAft>
                        <a:buClr>
                          <a:schemeClr val="dk1"/>
                        </a:buClr>
                        <a:buSzPts val="1100"/>
                        <a:buFont typeface="Arial"/>
                        <a:buNone/>
                      </a:pPr>
                      <a:r>
                        <a:rPr lang="en-US" sz="1200">
                          <a:latin typeface="Times New Roman"/>
                          <a:ea typeface="Times New Roman"/>
                          <a:cs typeface="Times New Roman"/>
                          <a:sym typeface="Times New Roman"/>
                        </a:rPr>
                        <a:t>T0+15 - T0+18</a:t>
                      </a:r>
                      <a:endParaRPr sz="1400" u="none" cap="none" strike="noStrike">
                        <a:solidFill>
                          <a:schemeClr val="dk1"/>
                        </a:solidFill>
                      </a:endParaRPr>
                    </a:p>
                  </a:txBody>
                  <a:tcPr marT="45725" marB="45725" marR="91450" marL="91450" anchor="ctr"/>
                </a:tc>
              </a:tr>
            </a:tbl>
          </a:graphicData>
        </a:graphic>
      </p:graphicFrame>
      <p:sp>
        <p:nvSpPr>
          <p:cNvPr id="123" name="Google Shape;123;p16"/>
          <p:cNvSpPr txBox="1"/>
          <p:nvPr/>
        </p:nvSpPr>
        <p:spPr>
          <a:xfrm>
            <a:off x="3638550" y="238125"/>
            <a:ext cx="500062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5539C"/>
                </a:solidFill>
                <a:latin typeface="Arial"/>
                <a:ea typeface="Arial"/>
                <a:cs typeface="Arial"/>
                <a:sym typeface="Arial"/>
              </a:rPr>
              <a:t>Milestones</a:t>
            </a:r>
            <a:endParaRPr b="1" i="0" sz="2800" u="none" cap="none" strike="noStrike">
              <a:solidFill>
                <a:srgbClr val="05539C"/>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25ace02ada9_0_28"/>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 </a:t>
            </a:r>
            <a:endParaRPr/>
          </a:p>
        </p:txBody>
      </p:sp>
      <p:sp>
        <p:nvSpPr>
          <p:cNvPr id="129" name="Google Shape;129;g25ace02ada9_0_28"/>
          <p:cNvSpPr txBox="1"/>
          <p:nvPr/>
        </p:nvSpPr>
        <p:spPr>
          <a:xfrm>
            <a:off x="3638550" y="238125"/>
            <a:ext cx="5000700" cy="523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lang="en-US" sz="2800">
                <a:solidFill>
                  <a:srgbClr val="05539C"/>
                </a:solidFill>
              </a:rPr>
              <a:t>Skin Diagnostic Market </a:t>
            </a:r>
            <a:endParaRPr b="1" i="0" sz="2800" u="none" cap="none" strike="noStrike">
              <a:solidFill>
                <a:srgbClr val="05539C"/>
              </a:solidFill>
              <a:latin typeface="Arial"/>
              <a:ea typeface="Arial"/>
              <a:cs typeface="Arial"/>
              <a:sym typeface="Arial"/>
            </a:endParaRPr>
          </a:p>
        </p:txBody>
      </p:sp>
      <p:grpSp>
        <p:nvGrpSpPr>
          <p:cNvPr id="130" name="Google Shape;130;g25ace02ada9_0_28"/>
          <p:cNvGrpSpPr/>
          <p:nvPr/>
        </p:nvGrpSpPr>
        <p:grpSpPr>
          <a:xfrm>
            <a:off x="463228" y="3505779"/>
            <a:ext cx="11162862" cy="3243240"/>
            <a:chOff x="1593000" y="2322568"/>
            <a:chExt cx="5957975" cy="643500"/>
          </a:xfrm>
        </p:grpSpPr>
        <p:sp>
          <p:nvSpPr>
            <p:cNvPr id="131" name="Google Shape;131;g25ace02ada9_0_28"/>
            <p:cNvSpPr/>
            <p:nvPr/>
          </p:nvSpPr>
          <p:spPr>
            <a:xfrm>
              <a:off x="3728375" y="2322568"/>
              <a:ext cx="3822600" cy="643500"/>
            </a:xfrm>
            <a:prstGeom prst="rect">
              <a:avLst/>
            </a:prstGeom>
            <a:solidFill>
              <a:srgbClr val="EEEEE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2" name="Google Shape;132;g25ace02ada9_0_28"/>
            <p:cNvSpPr/>
            <p:nvPr/>
          </p:nvSpPr>
          <p:spPr>
            <a:xfrm flipH="1">
              <a:off x="2283025" y="2322575"/>
              <a:ext cx="1844400" cy="642600"/>
            </a:xfrm>
            <a:prstGeom prst="rect">
              <a:avLst/>
            </a:prstGeom>
            <a:solidFill>
              <a:srgbClr val="A7291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3" name="Google Shape;133;g25ace02ada9_0_28"/>
            <p:cNvSpPr/>
            <p:nvPr/>
          </p:nvSpPr>
          <p:spPr>
            <a:xfrm rot="-5400000">
              <a:off x="3501574" y="1934671"/>
              <a:ext cx="643356" cy="1419149"/>
            </a:xfrm>
            <a:prstGeom prst="flowChartOffpageConnector">
              <a:avLst/>
            </a:prstGeom>
            <a:solidFill>
              <a:srgbClr val="05539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4" name="Google Shape;134;g25ace02ada9_0_28"/>
            <p:cNvSpPr/>
            <p:nvPr/>
          </p:nvSpPr>
          <p:spPr>
            <a:xfrm>
              <a:off x="2283024" y="2323752"/>
              <a:ext cx="1932300" cy="642300"/>
            </a:xfrm>
            <a:prstGeom prst="rect">
              <a:avLst/>
            </a:prstGeom>
            <a:solidFill>
              <a:srgbClr val="05539C"/>
            </a:solidFill>
            <a:ln>
              <a:noFill/>
            </a:ln>
          </p:spPr>
          <p:txBody>
            <a:bodyPr anchorCtr="0" anchor="ctr" bIns="121900" lIns="121900" spcFirstLastPara="1" rIns="121900" wrap="square" tIns="121900">
              <a:noAutofit/>
            </a:bodyPr>
            <a:lstStyle/>
            <a:p>
              <a:pPr indent="0" lvl="0" marL="0" rtl="0" algn="ctr">
                <a:lnSpc>
                  <a:spcPct val="115000"/>
                </a:lnSpc>
                <a:spcBef>
                  <a:spcPts val="0"/>
                </a:spcBef>
                <a:spcAft>
                  <a:spcPts val="0"/>
                </a:spcAft>
                <a:buNone/>
              </a:pPr>
              <a:r>
                <a:rPr lang="en-US" sz="2200">
                  <a:solidFill>
                    <a:srgbClr val="FFFFFF"/>
                  </a:solidFill>
                  <a:latin typeface="Times New Roman"/>
                  <a:ea typeface="Times New Roman"/>
                  <a:cs typeface="Times New Roman"/>
                  <a:sym typeface="Times New Roman"/>
                </a:rPr>
                <a:t>Indian Market </a:t>
              </a:r>
              <a:endParaRPr sz="2200">
                <a:solidFill>
                  <a:srgbClr val="FFFFFF"/>
                </a:solidFill>
                <a:latin typeface="Times New Roman"/>
                <a:ea typeface="Times New Roman"/>
                <a:cs typeface="Times New Roman"/>
                <a:sym typeface="Times New Roman"/>
              </a:endParaRPr>
            </a:p>
          </p:txBody>
        </p:sp>
        <p:sp>
          <p:nvSpPr>
            <p:cNvPr id="135" name="Google Shape;135;g25ace02ada9_0_28"/>
            <p:cNvSpPr/>
            <p:nvPr/>
          </p:nvSpPr>
          <p:spPr>
            <a:xfrm>
              <a:off x="1593000" y="2322568"/>
              <a:ext cx="690000" cy="642300"/>
            </a:xfrm>
            <a:prstGeom prst="rect">
              <a:avLst/>
            </a:prstGeom>
            <a:solidFill>
              <a:srgbClr val="B02B20"/>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36" name="Google Shape;136;g25ace02ada9_0_28"/>
            <p:cNvSpPr/>
            <p:nvPr/>
          </p:nvSpPr>
          <p:spPr>
            <a:xfrm>
              <a:off x="1593000" y="2322575"/>
              <a:ext cx="690000" cy="642600"/>
            </a:xfrm>
            <a:prstGeom prst="rect">
              <a:avLst/>
            </a:prstGeom>
            <a:solidFill>
              <a:srgbClr val="05539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3500">
                  <a:solidFill>
                    <a:srgbClr val="FFFFFF"/>
                  </a:solidFill>
                  <a:latin typeface="Roboto Thin"/>
                  <a:ea typeface="Roboto Thin"/>
                  <a:cs typeface="Roboto Thin"/>
                  <a:sym typeface="Roboto Thin"/>
                </a:rPr>
                <a:t>02</a:t>
              </a:r>
              <a:endParaRPr sz="3500">
                <a:solidFill>
                  <a:srgbClr val="FFFFFF"/>
                </a:solidFill>
                <a:latin typeface="Roboto Thin"/>
                <a:ea typeface="Roboto Thin"/>
                <a:cs typeface="Roboto Thin"/>
                <a:sym typeface="Roboto Thin"/>
              </a:endParaRPr>
            </a:p>
          </p:txBody>
        </p:sp>
        <p:sp>
          <p:nvSpPr>
            <p:cNvPr id="137" name="Google Shape;137;g25ace02ada9_0_28"/>
            <p:cNvSpPr/>
            <p:nvPr/>
          </p:nvSpPr>
          <p:spPr>
            <a:xfrm>
              <a:off x="4387850" y="2323750"/>
              <a:ext cx="2971200" cy="642300"/>
            </a:xfrm>
            <a:prstGeom prst="rect">
              <a:avLst/>
            </a:prstGeom>
            <a:noFill/>
            <a:ln>
              <a:noFill/>
            </a:ln>
          </p:spPr>
          <p:txBody>
            <a:bodyPr anchorCtr="0" anchor="ctr" bIns="121900" lIns="121900" spcFirstLastPara="1" rIns="121900" wrap="square" tIns="121900">
              <a:noAutofit/>
            </a:bodyPr>
            <a:lstStyle/>
            <a:p>
              <a:pPr indent="-381000" lvl="0" marL="609600" rtl="0" algn="l">
                <a:lnSpc>
                  <a:spcPct val="115000"/>
                </a:lnSpc>
                <a:spcBef>
                  <a:spcPts val="1200"/>
                </a:spcBef>
                <a:spcAft>
                  <a:spcPts val="0"/>
                </a:spcAft>
                <a:buClr>
                  <a:srgbClr val="A7291E"/>
                </a:buClr>
                <a:buSzPts val="1200"/>
                <a:buFont typeface="Roboto"/>
                <a:buChar char="●"/>
              </a:pPr>
              <a:r>
                <a:rPr b="1" lang="en-US" sz="1200">
                  <a:solidFill>
                    <a:schemeClr val="dk1"/>
                  </a:solidFill>
                </a:rPr>
                <a:t>High growth potential:</a:t>
              </a:r>
              <a:r>
                <a:rPr lang="en-US" sz="1200">
                  <a:solidFill>
                    <a:schemeClr val="dk1"/>
                  </a:solidFill>
                </a:rPr>
                <a:t> India’s skin diagnostics/teledermatology sector is surging with a projected </a:t>
              </a:r>
              <a:r>
                <a:rPr b="1" lang="en-US" sz="1200">
                  <a:solidFill>
                    <a:schemeClr val="dk1"/>
                  </a:solidFill>
                </a:rPr>
                <a:t>double-digit CAGR (~12%)</a:t>
              </a:r>
              <a:r>
                <a:rPr lang="en-US" sz="1200">
                  <a:solidFill>
                    <a:schemeClr val="dk1"/>
                  </a:solidFill>
                </a:rPr>
                <a:t> over the next decade</a:t>
              </a:r>
              <a:r>
                <a:rPr lang="en-US" sz="1200" u="sng">
                  <a:solidFill>
                    <a:schemeClr val="hlink"/>
                  </a:solidFill>
                  <a:hlinkClick r:id="rId3"/>
                </a:rPr>
                <a:t>[16]</a:t>
              </a:r>
              <a:r>
                <a:rPr lang="en-US" sz="1200">
                  <a:solidFill>
                    <a:schemeClr val="dk1"/>
                  </a:solidFill>
                </a:rPr>
                <a:t>. Growth is fueled by a vast patient base and expanding healthcare access.</a:t>
              </a:r>
              <a:endParaRPr sz="1200">
                <a:solidFill>
                  <a:schemeClr val="dk1"/>
                </a:solidFill>
              </a:endParaRPr>
            </a:p>
            <a:p>
              <a:pPr indent="-381000" lvl="0" marL="609600" rtl="0" algn="l">
                <a:lnSpc>
                  <a:spcPct val="115000"/>
                </a:lnSpc>
                <a:spcBef>
                  <a:spcPts val="1000"/>
                </a:spcBef>
                <a:spcAft>
                  <a:spcPts val="0"/>
                </a:spcAft>
                <a:buClr>
                  <a:srgbClr val="A7291E"/>
                </a:buClr>
                <a:buSzPts val="1200"/>
                <a:buFont typeface="Roboto"/>
                <a:buChar char="●"/>
              </a:pPr>
              <a:r>
                <a:rPr lang="en-US" sz="1200">
                  <a:solidFill>
                    <a:schemeClr val="dk1"/>
                  </a:solidFill>
                  <a:latin typeface="Times New Roman"/>
                  <a:ea typeface="Times New Roman"/>
                  <a:cs typeface="Times New Roman"/>
                  <a:sym typeface="Times New Roman"/>
                </a:rPr>
                <a:t> </a:t>
              </a:r>
              <a:r>
                <a:rPr b="1" lang="en-US" sz="1200">
                  <a:solidFill>
                    <a:schemeClr val="dk1"/>
                  </a:solidFill>
                </a:rPr>
                <a:t>Demand drivers:</a:t>
              </a:r>
              <a:r>
                <a:rPr lang="en-US" sz="1200">
                  <a:solidFill>
                    <a:schemeClr val="dk1"/>
                  </a:solidFill>
                </a:rPr>
                <a:t> </a:t>
              </a:r>
              <a:r>
                <a:rPr lang="en-US" sz="1200">
                  <a:solidFill>
                    <a:schemeClr val="dk1"/>
                  </a:solidFill>
                </a:rPr>
                <a:t>Approximately </a:t>
              </a:r>
              <a:r>
                <a:rPr b="1" lang="en-US" sz="1200">
                  <a:solidFill>
                    <a:schemeClr val="dk1"/>
                  </a:solidFill>
                </a:rPr>
                <a:t>30% of Indians</a:t>
              </a:r>
              <a:r>
                <a:rPr lang="en-US" sz="1200">
                  <a:solidFill>
                    <a:schemeClr val="dk1"/>
                  </a:solidFill>
                </a:rPr>
                <a:t> suffer from some skin ailment</a:t>
              </a:r>
              <a:r>
                <a:rPr lang="en-US" sz="1200" u="sng">
                  <a:solidFill>
                    <a:schemeClr val="hlink"/>
                  </a:solidFill>
                  <a:hlinkClick r:id="rId4"/>
                </a:rPr>
                <a:t>[17]</a:t>
              </a:r>
              <a:r>
                <a:rPr lang="en-US" sz="1200">
                  <a:solidFill>
                    <a:schemeClr val="dk1"/>
                  </a:solidFill>
                  <a:latin typeface="Roboto"/>
                  <a:ea typeface="Roboto"/>
                  <a:cs typeface="Roboto"/>
                  <a:sym typeface="Roboto"/>
                </a:rPr>
                <a:t>, but rural areas lack dermatologists. However, digital health initiatives and better telecom are boosting teledermatology, improving remote skin care access.</a:t>
              </a:r>
              <a:endParaRPr sz="1200">
                <a:solidFill>
                  <a:schemeClr val="dk1"/>
                </a:solidFill>
              </a:endParaRPr>
            </a:p>
            <a:p>
              <a:pPr indent="-381000" lvl="0" marL="609600" rtl="0" algn="l">
                <a:lnSpc>
                  <a:spcPct val="115000"/>
                </a:lnSpc>
                <a:spcBef>
                  <a:spcPts val="1200"/>
                </a:spcBef>
                <a:spcAft>
                  <a:spcPts val="1000"/>
                </a:spcAft>
                <a:buClr>
                  <a:srgbClr val="A7291E"/>
                </a:buClr>
                <a:buSzPts val="1200"/>
                <a:buFont typeface="Roboto"/>
                <a:buChar char="●"/>
              </a:pPr>
              <a:r>
                <a:rPr lang="en-US" sz="1200">
                  <a:solidFill>
                    <a:schemeClr val="dk1"/>
                  </a:solidFill>
                  <a:latin typeface="Roboto"/>
                  <a:ea typeface="Roboto"/>
                  <a:cs typeface="Roboto"/>
                  <a:sym typeface="Roboto"/>
                </a:rPr>
                <a:t>Major opportunities: Deploying affordable, innovative diagnostic tools across dermatology clinics, urban hospitals, PHCs, and district hospitals, with telemedicine scaling to improve specialist and remote skin care access in India.</a:t>
              </a:r>
              <a:endParaRPr sz="1200">
                <a:solidFill>
                  <a:srgbClr val="A7291E"/>
                </a:solidFill>
                <a:latin typeface="Roboto"/>
                <a:ea typeface="Roboto"/>
                <a:cs typeface="Roboto"/>
                <a:sym typeface="Roboto"/>
              </a:endParaRPr>
            </a:p>
          </p:txBody>
        </p:sp>
      </p:grpSp>
      <p:grpSp>
        <p:nvGrpSpPr>
          <p:cNvPr id="138" name="Google Shape;138;g25ace02ada9_0_28"/>
          <p:cNvGrpSpPr/>
          <p:nvPr/>
        </p:nvGrpSpPr>
        <p:grpSpPr>
          <a:xfrm>
            <a:off x="463228" y="1030257"/>
            <a:ext cx="11162862" cy="2475527"/>
            <a:chOff x="1593000" y="2322568"/>
            <a:chExt cx="5957975" cy="651009"/>
          </a:xfrm>
        </p:grpSpPr>
        <p:sp>
          <p:nvSpPr>
            <p:cNvPr id="139" name="Google Shape;139;g25ace02ada9_0_28"/>
            <p:cNvSpPr/>
            <p:nvPr/>
          </p:nvSpPr>
          <p:spPr>
            <a:xfrm>
              <a:off x="3728375" y="2322568"/>
              <a:ext cx="3822600" cy="643500"/>
            </a:xfrm>
            <a:prstGeom prst="rect">
              <a:avLst/>
            </a:prstGeom>
            <a:solidFill>
              <a:srgbClr val="EEEEE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0" name="Google Shape;140;g25ace02ada9_0_28"/>
            <p:cNvSpPr/>
            <p:nvPr/>
          </p:nvSpPr>
          <p:spPr>
            <a:xfrm flipH="1">
              <a:off x="2283025" y="2322575"/>
              <a:ext cx="1844400" cy="642600"/>
            </a:xfrm>
            <a:prstGeom prst="rect">
              <a:avLst/>
            </a:prstGeom>
            <a:solidFill>
              <a:srgbClr val="A7291E"/>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1" name="Google Shape;141;g25ace02ada9_0_28"/>
            <p:cNvSpPr/>
            <p:nvPr/>
          </p:nvSpPr>
          <p:spPr>
            <a:xfrm rot="-5400000">
              <a:off x="3497766" y="1938488"/>
              <a:ext cx="643356" cy="1411521"/>
            </a:xfrm>
            <a:prstGeom prst="flowChartOffpageConnector">
              <a:avLst/>
            </a:prstGeom>
            <a:solidFill>
              <a:srgbClr val="05539C"/>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2" name="Google Shape;142;g25ace02ada9_0_28"/>
            <p:cNvSpPr/>
            <p:nvPr/>
          </p:nvSpPr>
          <p:spPr>
            <a:xfrm>
              <a:off x="2283024" y="2322570"/>
              <a:ext cx="1940400" cy="651000"/>
            </a:xfrm>
            <a:prstGeom prst="rect">
              <a:avLst/>
            </a:prstGeom>
            <a:solidFill>
              <a:srgbClr val="05539C"/>
            </a:solidFill>
            <a:ln>
              <a:noFill/>
            </a:ln>
          </p:spPr>
          <p:txBody>
            <a:bodyPr anchorCtr="0" anchor="ctr" bIns="121900" lIns="121900" spcFirstLastPara="1" rIns="121900" wrap="square" tIns="121900">
              <a:noAutofit/>
            </a:bodyPr>
            <a:lstStyle/>
            <a:p>
              <a:pPr indent="0" lvl="0" marL="0" rtl="0" algn="ctr">
                <a:lnSpc>
                  <a:spcPct val="115000"/>
                </a:lnSpc>
                <a:spcBef>
                  <a:spcPts val="0"/>
                </a:spcBef>
                <a:spcAft>
                  <a:spcPts val="0"/>
                </a:spcAft>
                <a:buNone/>
              </a:pPr>
              <a:r>
                <a:rPr lang="en-US" sz="2200">
                  <a:solidFill>
                    <a:srgbClr val="FFFFFF"/>
                  </a:solidFill>
                  <a:latin typeface="Times New Roman"/>
                  <a:ea typeface="Times New Roman"/>
                  <a:cs typeface="Times New Roman"/>
                  <a:sym typeface="Times New Roman"/>
                </a:rPr>
                <a:t>Global Market</a:t>
              </a:r>
              <a:endParaRPr sz="2200">
                <a:solidFill>
                  <a:srgbClr val="FFFFFF"/>
                </a:solidFill>
                <a:latin typeface="Times New Roman"/>
                <a:ea typeface="Times New Roman"/>
                <a:cs typeface="Times New Roman"/>
                <a:sym typeface="Times New Roman"/>
              </a:endParaRPr>
            </a:p>
          </p:txBody>
        </p:sp>
        <p:sp>
          <p:nvSpPr>
            <p:cNvPr id="143" name="Google Shape;143;g25ace02ada9_0_28"/>
            <p:cNvSpPr/>
            <p:nvPr/>
          </p:nvSpPr>
          <p:spPr>
            <a:xfrm>
              <a:off x="1593000" y="2322568"/>
              <a:ext cx="690000" cy="642300"/>
            </a:xfrm>
            <a:prstGeom prst="rect">
              <a:avLst/>
            </a:prstGeom>
            <a:solidFill>
              <a:srgbClr val="B02B20"/>
            </a:solidFill>
            <a:ln>
              <a:noFill/>
            </a:ln>
            <a:effectLst>
              <a:outerShdw blurRad="71438" rotWithShape="0" algn="bl" dir="2700000" dist="28575">
                <a:srgbClr val="000000">
                  <a:alpha val="17000"/>
                </a:srgbClr>
              </a:outerShdw>
            </a:effectLst>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144" name="Google Shape;144;g25ace02ada9_0_28"/>
            <p:cNvSpPr/>
            <p:nvPr/>
          </p:nvSpPr>
          <p:spPr>
            <a:xfrm>
              <a:off x="1593002" y="2322577"/>
              <a:ext cx="690000" cy="651000"/>
            </a:xfrm>
            <a:prstGeom prst="rect">
              <a:avLst/>
            </a:prstGeom>
            <a:solidFill>
              <a:srgbClr val="05539C"/>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lang="en-US" sz="3500">
                  <a:solidFill>
                    <a:srgbClr val="FFFFFF"/>
                  </a:solidFill>
                  <a:latin typeface="Roboto Thin"/>
                  <a:ea typeface="Roboto Thin"/>
                  <a:cs typeface="Roboto Thin"/>
                  <a:sym typeface="Roboto Thin"/>
                </a:rPr>
                <a:t>01</a:t>
              </a:r>
              <a:endParaRPr sz="3500">
                <a:solidFill>
                  <a:srgbClr val="FFFFFF"/>
                </a:solidFill>
                <a:latin typeface="Roboto Thin"/>
                <a:ea typeface="Roboto Thin"/>
                <a:cs typeface="Roboto Thin"/>
                <a:sym typeface="Roboto Thin"/>
              </a:endParaRPr>
            </a:p>
          </p:txBody>
        </p:sp>
        <p:sp>
          <p:nvSpPr>
            <p:cNvPr id="145" name="Google Shape;145;g25ace02ada9_0_28"/>
            <p:cNvSpPr/>
            <p:nvPr/>
          </p:nvSpPr>
          <p:spPr>
            <a:xfrm>
              <a:off x="4387849" y="2323752"/>
              <a:ext cx="2971200" cy="642300"/>
            </a:xfrm>
            <a:prstGeom prst="rect">
              <a:avLst/>
            </a:prstGeom>
            <a:noFill/>
            <a:ln>
              <a:noFill/>
            </a:ln>
          </p:spPr>
          <p:txBody>
            <a:bodyPr anchorCtr="0" anchor="ctr" bIns="121900" lIns="121900" spcFirstLastPara="1" rIns="121900" wrap="square" tIns="121900">
              <a:noAutofit/>
            </a:bodyPr>
            <a:lstStyle/>
            <a:p>
              <a:pPr indent="-381000" lvl="0" marL="609600" rtl="0" algn="l">
                <a:lnSpc>
                  <a:spcPct val="115000"/>
                </a:lnSpc>
                <a:spcBef>
                  <a:spcPts val="1200"/>
                </a:spcBef>
                <a:spcAft>
                  <a:spcPts val="0"/>
                </a:spcAft>
                <a:buClr>
                  <a:srgbClr val="A7291E"/>
                </a:buClr>
                <a:buSzPts val="1200"/>
                <a:buFont typeface="Roboto"/>
                <a:buChar char="●"/>
              </a:pPr>
              <a:r>
                <a:rPr b="1" lang="en-US" sz="1200">
                  <a:solidFill>
                    <a:schemeClr val="dk1"/>
                  </a:solidFill>
                </a:rPr>
                <a:t>Robust growth trend:</a:t>
              </a:r>
              <a:r>
                <a:rPr lang="en-US" sz="1200">
                  <a:solidFill>
                    <a:schemeClr val="dk1"/>
                  </a:solidFill>
                </a:rPr>
                <a:t> The global skin diagnostics market is expanding steadily (projected high single-digit ~10% CAGR)</a:t>
              </a:r>
              <a:r>
                <a:rPr lang="en-US" sz="1200" u="sng">
                  <a:solidFill>
                    <a:schemeClr val="hlink"/>
                  </a:solidFill>
                  <a:hlinkClick r:id="rId5"/>
                </a:rPr>
                <a:t>[12]</a:t>
              </a:r>
              <a:r>
                <a:rPr lang="en-US" sz="1200">
                  <a:solidFill>
                    <a:schemeClr val="dk1"/>
                  </a:solidFill>
                </a:rPr>
                <a:t>, driven by rising skin disorder prevalence and demand for early, accurate detection.</a:t>
              </a:r>
              <a:endParaRPr sz="1200">
                <a:solidFill>
                  <a:schemeClr val="dk1"/>
                </a:solidFill>
              </a:endParaRPr>
            </a:p>
            <a:p>
              <a:pPr indent="-381000" lvl="0" marL="609600" rtl="0" algn="l">
                <a:lnSpc>
                  <a:spcPct val="115000"/>
                </a:lnSpc>
                <a:spcBef>
                  <a:spcPts val="1000"/>
                </a:spcBef>
                <a:spcAft>
                  <a:spcPts val="0"/>
                </a:spcAft>
                <a:buClr>
                  <a:srgbClr val="A7291E"/>
                </a:buClr>
                <a:buSzPts val="1200"/>
                <a:buFont typeface="Roboto"/>
                <a:buChar char="●"/>
              </a:pPr>
              <a:r>
                <a:rPr lang="en-US" sz="1200">
                  <a:solidFill>
                    <a:schemeClr val="dk1"/>
                  </a:solidFill>
                  <a:latin typeface="Roboto"/>
                  <a:ea typeface="Roboto"/>
                  <a:cs typeface="Roboto"/>
                  <a:sym typeface="Roboto"/>
                </a:rPr>
                <a:t>Key drivers: AI, hyperspectral imaging, and telehealth drive growth, with rising skin health awareness boosting advanced diagnostic tool use.</a:t>
              </a:r>
              <a:endParaRPr sz="1200">
                <a:solidFill>
                  <a:schemeClr val="dk1"/>
                </a:solidFill>
                <a:latin typeface="Roboto"/>
                <a:ea typeface="Roboto"/>
                <a:cs typeface="Roboto"/>
                <a:sym typeface="Roboto"/>
              </a:endParaRPr>
            </a:p>
            <a:p>
              <a:pPr indent="-381000" lvl="0" marL="609600" rtl="0" algn="l">
                <a:lnSpc>
                  <a:spcPct val="115000"/>
                </a:lnSpc>
                <a:spcBef>
                  <a:spcPts val="1200"/>
                </a:spcBef>
                <a:spcAft>
                  <a:spcPts val="1000"/>
                </a:spcAft>
                <a:buClr>
                  <a:srgbClr val="A7291E"/>
                </a:buClr>
                <a:buSzPts val="1200"/>
                <a:buFont typeface="Roboto"/>
                <a:buChar char="●"/>
              </a:pPr>
              <a:r>
                <a:rPr lang="en-US" sz="1200">
                  <a:solidFill>
                    <a:schemeClr val="dk1"/>
                  </a:solidFill>
                  <a:latin typeface="Roboto"/>
                  <a:ea typeface="Roboto"/>
                  <a:cs typeface="Roboto"/>
                  <a:sym typeface="Roboto"/>
                </a:rPr>
                <a:t>Opportunity zones: AI-powered devices and teledermatology extend skin diagnostics beyond hospitals to clinics, wound care centers, and telemedicine networks worldwide.</a:t>
              </a:r>
              <a:endParaRPr sz="1200">
                <a:solidFill>
                  <a:schemeClr val="dk1"/>
                </a:solidFill>
                <a:latin typeface="Roboto"/>
                <a:ea typeface="Roboto"/>
                <a:cs typeface="Roboto"/>
                <a:sym typeface="Roboto"/>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9" name="Shape 149"/>
        <p:cNvGrpSpPr/>
        <p:nvPr/>
      </p:nvGrpSpPr>
      <p:grpSpPr>
        <a:xfrm>
          <a:off x="0" y="0"/>
          <a:ext cx="0" cy="0"/>
          <a:chOff x="0" y="0"/>
          <a:chExt cx="0" cy="0"/>
        </a:xfrm>
      </p:grpSpPr>
      <p:sp>
        <p:nvSpPr>
          <p:cNvPr id="150" name="Google Shape;150;g25ace02ada9_0_40"/>
          <p:cNvSpPr txBox="1"/>
          <p:nvPr>
            <p:ph idx="1" type="body"/>
          </p:nvPr>
        </p:nvSpPr>
        <p:spPr>
          <a:xfrm>
            <a:off x="979713" y="1253331"/>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t/>
            </a:r>
            <a:endParaRPr/>
          </a:p>
          <a:p>
            <a:pPr indent="0" lvl="0" marL="0" rtl="0" algn="l">
              <a:lnSpc>
                <a:spcPct val="90000"/>
              </a:lnSpc>
              <a:spcBef>
                <a:spcPts val="1000"/>
              </a:spcBef>
              <a:spcAft>
                <a:spcPts val="0"/>
              </a:spcAft>
              <a:buSzPts val="1800"/>
              <a:buNone/>
            </a:pPr>
            <a:r>
              <a:t/>
            </a:r>
            <a:endParaRPr b="1"/>
          </a:p>
          <a:p>
            <a:pPr indent="0" lvl="0" marL="0" rtl="0" algn="l">
              <a:lnSpc>
                <a:spcPct val="90000"/>
              </a:lnSpc>
              <a:spcBef>
                <a:spcPts val="1000"/>
              </a:spcBef>
              <a:spcAft>
                <a:spcPts val="0"/>
              </a:spcAft>
              <a:buSzPts val="1800"/>
              <a:buNone/>
            </a:pPr>
            <a:r>
              <a:t/>
            </a:r>
            <a:endParaRPr>
              <a:solidFill>
                <a:srgbClr val="888888"/>
              </a:solidFill>
            </a:endParaRPr>
          </a:p>
        </p:txBody>
      </p:sp>
      <p:graphicFrame>
        <p:nvGraphicFramePr>
          <p:cNvPr id="151" name="Google Shape;151;g25ace02ada9_0_40"/>
          <p:cNvGraphicFramePr/>
          <p:nvPr/>
        </p:nvGraphicFramePr>
        <p:xfrm>
          <a:off x="750435" y="1171807"/>
          <a:ext cx="3000000" cy="3000000"/>
        </p:xfrm>
        <a:graphic>
          <a:graphicData uri="http://schemas.openxmlformats.org/drawingml/2006/table">
            <a:tbl>
              <a:tblPr bandRow="1" firstRow="1">
                <a:noFill/>
                <a:tableStyleId>{9BAD4DCC-C6C8-45AA-A3E1-CD54635BC7C7}</a:tableStyleId>
              </a:tblPr>
              <a:tblGrid>
                <a:gridCol w="2155375"/>
                <a:gridCol w="2155375"/>
                <a:gridCol w="2155375"/>
                <a:gridCol w="2155375"/>
                <a:gridCol w="2155375"/>
              </a:tblGrid>
              <a:tr h="649150">
                <a:tc>
                  <a:txBody>
                    <a:bodyPr/>
                    <a:lstStyle/>
                    <a:p>
                      <a:pPr indent="0" lvl="0" marL="0" marR="0" rtl="0" algn="l">
                        <a:lnSpc>
                          <a:spcPct val="100000"/>
                        </a:lnSpc>
                        <a:spcBef>
                          <a:spcPts val="0"/>
                        </a:spcBef>
                        <a:spcAft>
                          <a:spcPts val="0"/>
                        </a:spcAft>
                        <a:buClr>
                          <a:srgbClr val="000000"/>
                        </a:buClr>
                        <a:buSzPts val="1400"/>
                        <a:buFont typeface="Arial"/>
                        <a:buNone/>
                      </a:pPr>
                      <a:r>
                        <a:rPr lang="en-US" u="none" cap="none" strike="noStrike"/>
                        <a:t>Sr. No</a:t>
                      </a:r>
                      <a:endParaRPr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u="none" cap="none" strike="noStrike"/>
                        <a:t>Item</a:t>
                      </a:r>
                      <a:endParaRPr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u="none" cap="none" strike="noStrike"/>
                        <a:t>1</a:t>
                      </a:r>
                      <a:r>
                        <a:rPr baseline="30000" lang="en-US" u="none" cap="none" strike="noStrike"/>
                        <a:t>st</a:t>
                      </a:r>
                      <a:r>
                        <a:rPr lang="en-US" u="none" cap="none" strike="noStrike"/>
                        <a:t> Year</a:t>
                      </a:r>
                      <a:endParaRPr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u="none" cap="none" strike="noStrike"/>
                        <a:t>2</a:t>
                      </a:r>
                      <a:r>
                        <a:rPr baseline="30000" lang="en-US" u="none" cap="none" strike="noStrike"/>
                        <a:t>nd </a:t>
                      </a:r>
                      <a:r>
                        <a:rPr b="1" i="0" lang="en-US" u="none" cap="none" strike="noStrike">
                          <a:solidFill>
                            <a:schemeClr val="lt1"/>
                          </a:solidFill>
                          <a:latin typeface="Arial"/>
                          <a:ea typeface="Arial"/>
                          <a:cs typeface="Arial"/>
                          <a:sym typeface="Arial"/>
                        </a:rPr>
                        <a:t>Year  </a:t>
                      </a:r>
                      <a:endParaRPr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400"/>
                        <a:buFont typeface="Arial"/>
                        <a:buNone/>
                      </a:pPr>
                      <a:r>
                        <a:rPr lang="en-US" u="none" cap="none" strike="noStrike"/>
                        <a:t>Total</a:t>
                      </a:r>
                      <a:endParaRPr u="none" cap="none" strike="noStrike"/>
                    </a:p>
                  </a:txBody>
                  <a:tcPr marT="45725" marB="45725" marR="91450" marL="91450"/>
                </a:tc>
              </a:tr>
              <a:tr h="558600">
                <a:tc>
                  <a:txBody>
                    <a:bodyPr/>
                    <a:lstStyle/>
                    <a:p>
                      <a:pPr indent="0" lvl="0" marL="0" marR="0" rtl="0" algn="ctr">
                        <a:lnSpc>
                          <a:spcPct val="100000"/>
                        </a:lnSpc>
                        <a:spcBef>
                          <a:spcPts val="0"/>
                        </a:spcBef>
                        <a:spcAft>
                          <a:spcPts val="0"/>
                        </a:spcAft>
                        <a:buClr>
                          <a:srgbClr val="000000"/>
                        </a:buClr>
                        <a:buSzPts val="1400"/>
                        <a:buFont typeface="Arial"/>
                        <a:buNone/>
                      </a:pPr>
                      <a:r>
                        <a:rPr lang="en-US"/>
                        <a:t>1</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Manpower</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1,200,000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480,000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1,680,000</a:t>
                      </a:r>
                      <a:endParaRPr u="none" cap="none" strike="noStrike"/>
                    </a:p>
                  </a:txBody>
                  <a:tcPr marT="45725" marB="45725" marR="91450" marL="91450"/>
                </a:tc>
              </a:tr>
              <a:tr h="558600">
                <a:tc>
                  <a:txBody>
                    <a:bodyPr/>
                    <a:lstStyle/>
                    <a:p>
                      <a:pPr indent="0" lvl="0" marL="0" marR="0" rtl="0" algn="ctr">
                        <a:lnSpc>
                          <a:spcPct val="100000"/>
                        </a:lnSpc>
                        <a:spcBef>
                          <a:spcPts val="0"/>
                        </a:spcBef>
                        <a:spcAft>
                          <a:spcPts val="0"/>
                        </a:spcAft>
                        <a:buClr>
                          <a:srgbClr val="000000"/>
                        </a:buClr>
                        <a:buSzPts val="1400"/>
                        <a:buFont typeface="Arial"/>
                        <a:buNone/>
                      </a:pPr>
                      <a:r>
                        <a:rPr lang="en-US"/>
                        <a:t>2</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Equipment</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1,400,000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100,000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1,500,000</a:t>
                      </a:r>
                      <a:endParaRPr u="none" cap="none" strike="noStrike"/>
                    </a:p>
                  </a:txBody>
                  <a:tcPr marT="45725" marB="45725" marR="91450" marL="91450"/>
                </a:tc>
              </a:tr>
              <a:tr h="558600">
                <a:tc>
                  <a:txBody>
                    <a:bodyPr/>
                    <a:lstStyle/>
                    <a:p>
                      <a:pPr indent="0" lvl="0" marL="0" marR="0" rtl="0" algn="ctr">
                        <a:lnSpc>
                          <a:spcPct val="100000"/>
                        </a:lnSpc>
                        <a:spcBef>
                          <a:spcPts val="0"/>
                        </a:spcBef>
                        <a:spcAft>
                          <a:spcPts val="0"/>
                        </a:spcAft>
                        <a:buClr>
                          <a:srgbClr val="000000"/>
                        </a:buClr>
                        <a:buSzPts val="1400"/>
                        <a:buFont typeface="Arial"/>
                        <a:buNone/>
                      </a:pPr>
                      <a:r>
                        <a:rPr lang="en-US"/>
                        <a:t>3</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Consumables </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100,000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10,000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110,000</a:t>
                      </a:r>
                      <a:endParaRPr u="none" cap="none" strike="noStrike"/>
                    </a:p>
                  </a:txBody>
                  <a:tcPr marT="45725" marB="45725" marR="91450" marL="91450"/>
                </a:tc>
              </a:tr>
              <a:tr h="558600">
                <a:tc>
                  <a:txBody>
                    <a:bodyPr/>
                    <a:lstStyle/>
                    <a:p>
                      <a:pPr indent="0" lvl="0" marL="0" marR="0" rtl="0" algn="ctr">
                        <a:lnSpc>
                          <a:spcPct val="100000"/>
                        </a:lnSpc>
                        <a:spcBef>
                          <a:spcPts val="0"/>
                        </a:spcBef>
                        <a:spcAft>
                          <a:spcPts val="0"/>
                        </a:spcAft>
                        <a:buClr>
                          <a:srgbClr val="000000"/>
                        </a:buClr>
                        <a:buSzPts val="1400"/>
                        <a:buFont typeface="Arial"/>
                        <a:buNone/>
                      </a:pPr>
                      <a:r>
                        <a:rPr lang="en-US"/>
                        <a:t>4</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Travel</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20,000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20,000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40,000</a:t>
                      </a:r>
                      <a:endParaRPr u="none" cap="none" strike="noStrike"/>
                    </a:p>
                  </a:txBody>
                  <a:tcPr marT="45725" marB="45725" marR="91450" marL="91450"/>
                </a:tc>
              </a:tr>
              <a:tr h="558600">
                <a:tc>
                  <a:txBody>
                    <a:bodyPr/>
                    <a:lstStyle/>
                    <a:p>
                      <a:pPr indent="0" lvl="0" marL="0" marR="0" rtl="0" algn="ctr">
                        <a:lnSpc>
                          <a:spcPct val="100000"/>
                        </a:lnSpc>
                        <a:spcBef>
                          <a:spcPts val="0"/>
                        </a:spcBef>
                        <a:spcAft>
                          <a:spcPts val="0"/>
                        </a:spcAft>
                        <a:buClr>
                          <a:srgbClr val="000000"/>
                        </a:buClr>
                        <a:buSzPts val="1400"/>
                        <a:buFont typeface="Arial"/>
                        <a:buNone/>
                      </a:pPr>
                      <a:r>
                        <a:rPr lang="en-US"/>
                        <a:t>5</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Miscellaneous </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70,000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30,000</a:t>
                      </a:r>
                      <a:endParaRPr u="none" cap="none" strike="noStrike"/>
                    </a:p>
                  </a:txBody>
                  <a:tcPr marT="45725" marB="45725" marR="91450" marL="91450"/>
                </a:tc>
                <a:tc>
                  <a:txBody>
                    <a:bodyPr/>
                    <a:lstStyle/>
                    <a:p>
                      <a:pPr indent="0" lvl="0" marL="0" marR="0" rtl="0" algn="ctr">
                        <a:lnSpc>
                          <a:spcPct val="100000"/>
                        </a:lnSpc>
                        <a:spcBef>
                          <a:spcPts val="0"/>
                        </a:spcBef>
                        <a:spcAft>
                          <a:spcPts val="0"/>
                        </a:spcAft>
                        <a:buClr>
                          <a:srgbClr val="000000"/>
                        </a:buClr>
                        <a:buSzPts val="1400"/>
                        <a:buFont typeface="Arial"/>
                        <a:buNone/>
                      </a:pPr>
                      <a:r>
                        <a:rPr lang="en-US"/>
                        <a:t>100,000</a:t>
                      </a:r>
                      <a:endParaRPr u="none" cap="none" strike="noStrike"/>
                    </a:p>
                  </a:txBody>
                  <a:tcPr marT="45725" marB="45725" marR="91450" marL="91450"/>
                </a:tc>
              </a:tr>
            </a:tbl>
          </a:graphicData>
        </a:graphic>
      </p:graphicFrame>
      <p:sp>
        <p:nvSpPr>
          <p:cNvPr id="152" name="Google Shape;152;g25ace02ada9_0_40"/>
          <p:cNvSpPr txBox="1"/>
          <p:nvPr/>
        </p:nvSpPr>
        <p:spPr>
          <a:xfrm>
            <a:off x="3638550" y="238125"/>
            <a:ext cx="500062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5539C"/>
                </a:solidFill>
                <a:latin typeface="Arial"/>
                <a:ea typeface="Arial"/>
                <a:cs typeface="Arial"/>
                <a:sym typeface="Arial"/>
              </a:rPr>
              <a:t>Resources &amp; Budget</a:t>
            </a:r>
            <a:endParaRPr b="1" i="0" sz="2800" u="none" cap="none" strike="noStrike">
              <a:solidFill>
                <a:srgbClr val="05539C"/>
              </a:solidFill>
              <a:latin typeface="Arial"/>
              <a:ea typeface="Arial"/>
              <a:cs typeface="Arial"/>
              <a:sym typeface="Arial"/>
            </a:endParaRPr>
          </a:p>
        </p:txBody>
      </p:sp>
      <p:graphicFrame>
        <p:nvGraphicFramePr>
          <p:cNvPr id="153" name="Google Shape;153;g25ace02ada9_0_40"/>
          <p:cNvGraphicFramePr/>
          <p:nvPr/>
        </p:nvGraphicFramePr>
        <p:xfrm>
          <a:off x="750435" y="4613957"/>
          <a:ext cx="3000000" cy="3000000"/>
        </p:xfrm>
        <a:graphic>
          <a:graphicData uri="http://schemas.openxmlformats.org/drawingml/2006/table">
            <a:tbl>
              <a:tblPr bandRow="1" firstRow="1">
                <a:noFill/>
                <a:tableStyleId>{9BAD4DCC-C6C8-45AA-A3E1-CD54635BC7C7}</a:tableStyleId>
              </a:tblPr>
              <a:tblGrid>
                <a:gridCol w="2155375"/>
                <a:gridCol w="2155375"/>
                <a:gridCol w="2155375"/>
                <a:gridCol w="2155375"/>
                <a:gridCol w="2155375"/>
              </a:tblGrid>
              <a:tr h="558600">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6</a:t>
                      </a:r>
                      <a:endParaRPr b="0" sz="1400" u="none" cap="none" strike="noStrike">
                        <a:solidFill>
                          <a:schemeClr val="dk1"/>
                        </a:solidFill>
                      </a:endParaRPr>
                    </a:p>
                  </a:txBody>
                  <a:tcPr marT="45725" marB="45725" marR="91450" marL="91450">
                    <a:solidFill>
                      <a:srgbClr val="E8EBF5"/>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Contingency</a:t>
                      </a:r>
                      <a:endParaRPr b="0" sz="1400" u="none" cap="none" strike="noStrike">
                        <a:solidFill>
                          <a:schemeClr val="dk1"/>
                        </a:solidFill>
                      </a:endParaRPr>
                    </a:p>
                  </a:txBody>
                  <a:tcPr marT="45725" marB="45725" marR="91450" marL="91450">
                    <a:solidFill>
                      <a:srgbClr val="E8EBF5"/>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50,000</a:t>
                      </a:r>
                      <a:endParaRPr b="0" sz="1400" u="none" cap="none" strike="noStrike">
                        <a:solidFill>
                          <a:schemeClr val="dk1"/>
                        </a:solidFill>
                      </a:endParaRPr>
                    </a:p>
                  </a:txBody>
                  <a:tcPr marT="45725" marB="45725" marR="91450" marL="91450">
                    <a:solidFill>
                      <a:srgbClr val="E8EBF5"/>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50</a:t>
                      </a:r>
                      <a:r>
                        <a:rPr b="0" lang="en-US">
                          <a:solidFill>
                            <a:schemeClr val="dk1"/>
                          </a:solidFill>
                        </a:rPr>
                        <a:t>,000</a:t>
                      </a:r>
                      <a:endParaRPr b="0" sz="1400" u="none" cap="none" strike="noStrike">
                        <a:solidFill>
                          <a:schemeClr val="dk1"/>
                        </a:solidFill>
                      </a:endParaRPr>
                    </a:p>
                  </a:txBody>
                  <a:tcPr marT="45725" marB="45725" marR="91450" marL="91450">
                    <a:solidFill>
                      <a:srgbClr val="E8EBF5"/>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100,000</a:t>
                      </a:r>
                      <a:endParaRPr b="0" sz="1400" u="none" cap="none" strike="noStrike">
                        <a:solidFill>
                          <a:schemeClr val="dk1"/>
                        </a:solidFill>
                      </a:endParaRPr>
                    </a:p>
                  </a:txBody>
                  <a:tcPr marT="45725" marB="45725" marR="91450" marL="91450">
                    <a:solidFill>
                      <a:srgbClr val="E8EBF5"/>
                    </a:solidFill>
                  </a:tcPr>
                </a:tc>
              </a:tr>
            </a:tbl>
          </a:graphicData>
        </a:graphic>
      </p:graphicFrame>
      <p:graphicFrame>
        <p:nvGraphicFramePr>
          <p:cNvPr id="154" name="Google Shape;154;g25ace02ada9_0_40"/>
          <p:cNvGraphicFramePr/>
          <p:nvPr/>
        </p:nvGraphicFramePr>
        <p:xfrm>
          <a:off x="750435" y="5172557"/>
          <a:ext cx="3000000" cy="3000000"/>
        </p:xfrm>
        <a:graphic>
          <a:graphicData uri="http://schemas.openxmlformats.org/drawingml/2006/table">
            <a:tbl>
              <a:tblPr bandRow="1" firstRow="1">
                <a:noFill/>
                <a:tableStyleId>{9BAD4DCC-C6C8-45AA-A3E1-CD54635BC7C7}</a:tableStyleId>
              </a:tblPr>
              <a:tblGrid>
                <a:gridCol w="2155375"/>
                <a:gridCol w="2155375"/>
                <a:gridCol w="2155375"/>
                <a:gridCol w="2155375"/>
                <a:gridCol w="2155375"/>
              </a:tblGrid>
              <a:tr h="558600">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7</a:t>
                      </a:r>
                      <a:endParaRPr b="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rgbClr val="CDD4EA"/>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Overhead</a:t>
                      </a:r>
                      <a:endParaRPr b="0" u="none" cap="none" strike="noStrike">
                        <a:solidFill>
                          <a:schemeClr val="dk1"/>
                        </a:solidFill>
                      </a:endParaRPr>
                    </a:p>
                  </a:txBody>
                  <a:tcPr marT="45725" marB="45725" marR="91450" marL="91450">
                    <a:lnL cap="flat" cmpd="sng" w="12700">
                      <a:solidFill>
                        <a:schemeClr val="lt1"/>
                      </a:solidFill>
                      <a:prstDash val="solid"/>
                      <a:round/>
                      <a:headEnd len="sm" w="sm" type="none"/>
                      <a:tailEnd len="sm" w="sm" type="none"/>
                    </a:lnL>
                    <a:solidFill>
                      <a:srgbClr val="CDD4EA"/>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568</a:t>
                      </a:r>
                      <a:r>
                        <a:rPr b="0" lang="en-US">
                          <a:solidFill>
                            <a:schemeClr val="dk1"/>
                          </a:solidFill>
                        </a:rPr>
                        <a:t>,000</a:t>
                      </a:r>
                      <a:endParaRPr b="0" u="none" cap="none" strike="noStrike">
                        <a:solidFill>
                          <a:schemeClr val="dk1"/>
                        </a:solidFill>
                      </a:endParaRPr>
                    </a:p>
                  </a:txBody>
                  <a:tcPr marT="45725" marB="45725" marR="91450" marL="91450">
                    <a:solidFill>
                      <a:srgbClr val="CDD4EA"/>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138</a:t>
                      </a:r>
                      <a:r>
                        <a:rPr b="0" lang="en-US">
                          <a:solidFill>
                            <a:schemeClr val="dk1"/>
                          </a:solidFill>
                        </a:rPr>
                        <a:t>,000</a:t>
                      </a:r>
                      <a:endParaRPr b="0" u="none" cap="none" strike="noStrike">
                        <a:solidFill>
                          <a:schemeClr val="dk1"/>
                        </a:solidFill>
                      </a:endParaRPr>
                    </a:p>
                  </a:txBody>
                  <a:tcPr marT="45725" marB="45725" marR="91450" marL="91450">
                    <a:solidFill>
                      <a:srgbClr val="CDD4EA"/>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0" lang="en-US">
                          <a:solidFill>
                            <a:schemeClr val="dk1"/>
                          </a:solidFill>
                        </a:rPr>
                        <a:t>706,000</a:t>
                      </a:r>
                      <a:endParaRPr b="0" u="none" cap="none" strike="noStrike">
                        <a:solidFill>
                          <a:schemeClr val="dk1"/>
                        </a:solidFill>
                      </a:endParaRPr>
                    </a:p>
                  </a:txBody>
                  <a:tcPr marT="45725" marB="45725" marR="91450" marL="91450">
                    <a:solidFill>
                      <a:srgbClr val="CDD4EA"/>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g25ace02ada9_0_88"/>
          <p:cNvSpPr txBox="1"/>
          <p:nvPr>
            <p:ph idx="1" type="body"/>
          </p:nvPr>
        </p:nvSpPr>
        <p:spPr>
          <a:xfrm>
            <a:off x="2781012" y="1269400"/>
            <a:ext cx="10515600" cy="10191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200"/>
              </a:spcBef>
              <a:spcAft>
                <a:spcPts val="0"/>
              </a:spcAft>
              <a:buClr>
                <a:schemeClr val="dk1"/>
              </a:buClr>
              <a:buSzPts val="1100"/>
              <a:buFont typeface="Arial"/>
              <a:buNone/>
            </a:pPr>
            <a:r>
              <a:rPr i="1" lang="en-US">
                <a:solidFill>
                  <a:schemeClr val="dk1"/>
                </a:solidFill>
              </a:rPr>
              <a:t>No external funding has been raised through other entities for this project.</a:t>
            </a:r>
            <a:endParaRPr i="1">
              <a:solidFill>
                <a:schemeClr val="dk1"/>
              </a:solidFill>
            </a:endParaRPr>
          </a:p>
          <a:p>
            <a:pPr indent="0" lvl="0" marL="0" rtl="0" algn="l">
              <a:lnSpc>
                <a:spcPct val="90000"/>
              </a:lnSpc>
              <a:spcBef>
                <a:spcPts val="1200"/>
              </a:spcBef>
              <a:spcAft>
                <a:spcPts val="0"/>
              </a:spcAft>
              <a:buClr>
                <a:schemeClr val="dk1"/>
              </a:buClr>
              <a:buSzPts val="1100"/>
              <a:buFont typeface="Arial"/>
              <a:buNone/>
            </a:pPr>
            <a:r>
              <a:t/>
            </a:r>
            <a:endParaRPr sz="2000">
              <a:solidFill>
                <a:srgbClr val="888888"/>
              </a:solidFill>
            </a:endParaRPr>
          </a:p>
        </p:txBody>
      </p:sp>
      <p:sp>
        <p:nvSpPr>
          <p:cNvPr id="160" name="Google Shape;160;g25ace02ada9_0_88"/>
          <p:cNvSpPr txBox="1"/>
          <p:nvPr/>
        </p:nvSpPr>
        <p:spPr>
          <a:xfrm>
            <a:off x="3638550" y="238125"/>
            <a:ext cx="500062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5539C"/>
                </a:solidFill>
                <a:latin typeface="Arial"/>
                <a:ea typeface="Arial"/>
                <a:cs typeface="Arial"/>
                <a:sym typeface="Arial"/>
              </a:rPr>
              <a:t>Funding So Far</a:t>
            </a:r>
            <a:endParaRPr b="1" i="0" sz="2800" u="none" cap="none" strike="noStrike">
              <a:solidFill>
                <a:srgbClr val="05539C"/>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g25ace02ada9_0_59"/>
          <p:cNvSpPr txBox="1"/>
          <p:nvPr>
            <p:ph idx="1" type="body"/>
          </p:nvPr>
        </p:nvSpPr>
        <p:spPr>
          <a:xfrm>
            <a:off x="881062" y="1168400"/>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1000"/>
              </a:spcBef>
              <a:spcAft>
                <a:spcPts val="0"/>
              </a:spcAft>
              <a:buSzPts val="1800"/>
              <a:buNone/>
            </a:pPr>
            <a:r>
              <a:rPr b="1" lang="en-US" sz="1800">
                <a:solidFill>
                  <a:schemeClr val="dk1"/>
                </a:solidFill>
                <a:latin typeface="Roboto"/>
                <a:ea typeface="Roboto"/>
                <a:cs typeface="Roboto"/>
                <a:sym typeface="Roboto"/>
              </a:rPr>
              <a:t>Project Investigator:</a:t>
            </a:r>
            <a:endParaRPr b="1" sz="1800">
              <a:solidFill>
                <a:schemeClr val="dk1"/>
              </a:solidFill>
              <a:latin typeface="Roboto"/>
              <a:ea typeface="Roboto"/>
              <a:cs typeface="Roboto"/>
              <a:sym typeface="Roboto"/>
            </a:endParaRPr>
          </a:p>
          <a:p>
            <a:pPr indent="0" lvl="0" marL="0" rtl="0" algn="l">
              <a:lnSpc>
                <a:spcPct val="90000"/>
              </a:lnSpc>
              <a:spcBef>
                <a:spcPts val="1000"/>
              </a:spcBef>
              <a:spcAft>
                <a:spcPts val="0"/>
              </a:spcAft>
              <a:buSzPts val="1800"/>
              <a:buNone/>
            </a:pPr>
            <a:r>
              <a:rPr lang="en-US" sz="1500">
                <a:solidFill>
                  <a:schemeClr val="dk1"/>
                </a:solidFill>
                <a:latin typeface="Roboto"/>
                <a:ea typeface="Roboto"/>
                <a:cs typeface="Roboto"/>
                <a:sym typeface="Roboto"/>
              </a:rPr>
              <a:t>Dr. Subhankar Mishra, Faculty, School of Computer Sciences, NISER Bhubaneswar</a:t>
            </a:r>
            <a:endParaRPr sz="1500">
              <a:solidFill>
                <a:schemeClr val="dk1"/>
              </a:solidFill>
              <a:latin typeface="Roboto"/>
              <a:ea typeface="Roboto"/>
              <a:cs typeface="Roboto"/>
              <a:sym typeface="Roboto"/>
            </a:endParaRPr>
          </a:p>
          <a:p>
            <a:pPr indent="0" lvl="0" marL="0" rtl="0" algn="l">
              <a:lnSpc>
                <a:spcPct val="90000"/>
              </a:lnSpc>
              <a:spcBef>
                <a:spcPts val="1000"/>
              </a:spcBef>
              <a:spcAft>
                <a:spcPts val="0"/>
              </a:spcAft>
              <a:buSzPts val="1800"/>
              <a:buNone/>
            </a:pPr>
            <a:r>
              <a:t/>
            </a:r>
            <a:endParaRPr sz="1500">
              <a:solidFill>
                <a:schemeClr val="dk1"/>
              </a:solidFill>
              <a:latin typeface="Roboto"/>
              <a:ea typeface="Roboto"/>
              <a:cs typeface="Roboto"/>
              <a:sym typeface="Roboto"/>
            </a:endParaRPr>
          </a:p>
          <a:p>
            <a:pPr indent="0" lvl="0" marL="0" rtl="0" algn="l">
              <a:lnSpc>
                <a:spcPct val="90000"/>
              </a:lnSpc>
              <a:spcBef>
                <a:spcPts val="1000"/>
              </a:spcBef>
              <a:spcAft>
                <a:spcPts val="0"/>
              </a:spcAft>
              <a:buSzPts val="1800"/>
              <a:buNone/>
            </a:pPr>
            <a:r>
              <a:rPr b="1" lang="en-US" sz="1800">
                <a:solidFill>
                  <a:schemeClr val="dk1"/>
                </a:solidFill>
                <a:latin typeface="Roboto"/>
                <a:ea typeface="Roboto"/>
                <a:cs typeface="Roboto"/>
                <a:sym typeface="Roboto"/>
              </a:rPr>
              <a:t>Members:</a:t>
            </a:r>
            <a:endParaRPr b="1" sz="1800">
              <a:solidFill>
                <a:schemeClr val="dk1"/>
              </a:solidFill>
              <a:latin typeface="Roboto"/>
              <a:ea typeface="Roboto"/>
              <a:cs typeface="Roboto"/>
              <a:sym typeface="Roboto"/>
            </a:endParaRPr>
          </a:p>
          <a:p>
            <a:pPr indent="0" lvl="0" marL="0" rtl="0" algn="l">
              <a:lnSpc>
                <a:spcPct val="90000"/>
              </a:lnSpc>
              <a:spcBef>
                <a:spcPts val="1000"/>
              </a:spcBef>
              <a:spcAft>
                <a:spcPts val="0"/>
              </a:spcAft>
              <a:buSzPts val="1800"/>
              <a:buNone/>
            </a:pPr>
            <a:r>
              <a:rPr lang="en-US" sz="1500">
                <a:solidFill>
                  <a:schemeClr val="dk1"/>
                </a:solidFill>
                <a:latin typeface="Roboto"/>
                <a:ea typeface="Roboto"/>
                <a:cs typeface="Roboto"/>
                <a:sym typeface="Roboto"/>
              </a:rPr>
              <a:t>Subhra Jyoti Mishra, School of Physical Sciences, NISER Bhubaneswar</a:t>
            </a:r>
            <a:endParaRPr sz="1500">
              <a:solidFill>
                <a:schemeClr val="dk1"/>
              </a:solidFill>
              <a:latin typeface="Roboto"/>
              <a:ea typeface="Roboto"/>
              <a:cs typeface="Roboto"/>
              <a:sym typeface="Roboto"/>
            </a:endParaRPr>
          </a:p>
          <a:p>
            <a:pPr indent="0" lvl="0" marL="0" rtl="0" algn="l">
              <a:lnSpc>
                <a:spcPct val="90000"/>
              </a:lnSpc>
              <a:spcBef>
                <a:spcPts val="1000"/>
              </a:spcBef>
              <a:spcAft>
                <a:spcPts val="0"/>
              </a:spcAft>
              <a:buSzPts val="1800"/>
              <a:buNone/>
            </a:pPr>
            <a:r>
              <a:rPr lang="en-US" sz="1500">
                <a:solidFill>
                  <a:schemeClr val="dk1"/>
                </a:solidFill>
                <a:latin typeface="Roboto"/>
                <a:ea typeface="Roboto"/>
                <a:cs typeface="Roboto"/>
                <a:sym typeface="Roboto"/>
              </a:rPr>
              <a:t>Mohammad Haris</a:t>
            </a:r>
            <a:r>
              <a:rPr lang="en-US" sz="1500">
                <a:solidFill>
                  <a:schemeClr val="dk1"/>
                </a:solidFill>
                <a:latin typeface="Roboto"/>
                <a:ea typeface="Roboto"/>
                <a:cs typeface="Roboto"/>
                <a:sym typeface="Roboto"/>
              </a:rPr>
              <a:t>, School of Physical Sciences, NISER Bhubaneswar</a:t>
            </a:r>
            <a:endParaRPr sz="1500">
              <a:solidFill>
                <a:schemeClr val="dk1"/>
              </a:solidFill>
              <a:latin typeface="Roboto"/>
              <a:ea typeface="Roboto"/>
              <a:cs typeface="Roboto"/>
              <a:sym typeface="Roboto"/>
            </a:endParaRPr>
          </a:p>
          <a:p>
            <a:pPr indent="0" lvl="0" marL="0" rtl="0" algn="l">
              <a:lnSpc>
                <a:spcPct val="90000"/>
              </a:lnSpc>
              <a:spcBef>
                <a:spcPts val="1000"/>
              </a:spcBef>
              <a:spcAft>
                <a:spcPts val="0"/>
              </a:spcAft>
              <a:buSzPts val="1800"/>
              <a:buNone/>
            </a:pPr>
            <a:r>
              <a:rPr lang="en-US" sz="1500">
                <a:solidFill>
                  <a:schemeClr val="dk1"/>
                </a:solidFill>
                <a:latin typeface="Roboto"/>
                <a:ea typeface="Roboto"/>
                <a:cs typeface="Roboto"/>
                <a:sym typeface="Roboto"/>
              </a:rPr>
              <a:t>Meet Kamleshbhai Bhatt</a:t>
            </a:r>
            <a:r>
              <a:rPr lang="en-US" sz="1500">
                <a:solidFill>
                  <a:schemeClr val="dk1"/>
                </a:solidFill>
                <a:latin typeface="Roboto"/>
                <a:ea typeface="Roboto"/>
                <a:cs typeface="Roboto"/>
                <a:sym typeface="Roboto"/>
              </a:rPr>
              <a:t>, School of Physical Sciences, NISER Bhubaneswar</a:t>
            </a:r>
            <a:endParaRPr sz="1500">
              <a:solidFill>
                <a:schemeClr val="dk1"/>
              </a:solidFill>
              <a:latin typeface="Roboto"/>
              <a:ea typeface="Roboto"/>
              <a:cs typeface="Roboto"/>
              <a:sym typeface="Roboto"/>
            </a:endParaRPr>
          </a:p>
          <a:p>
            <a:pPr indent="0" lvl="0" marL="0" rtl="0" algn="l">
              <a:lnSpc>
                <a:spcPct val="90000"/>
              </a:lnSpc>
              <a:spcBef>
                <a:spcPts val="1000"/>
              </a:spcBef>
              <a:spcAft>
                <a:spcPts val="0"/>
              </a:spcAft>
              <a:buSzPts val="1800"/>
              <a:buNone/>
            </a:pPr>
            <a:r>
              <a:rPr lang="en-US" sz="1500">
                <a:solidFill>
                  <a:schemeClr val="dk1"/>
                </a:solidFill>
                <a:latin typeface="Roboto"/>
                <a:ea typeface="Roboto"/>
                <a:cs typeface="Roboto"/>
                <a:sym typeface="Roboto"/>
              </a:rPr>
              <a:t>Soumya Mishra</a:t>
            </a:r>
            <a:r>
              <a:rPr lang="en-US" sz="1500">
                <a:solidFill>
                  <a:schemeClr val="dk1"/>
                </a:solidFill>
                <a:latin typeface="Roboto"/>
                <a:ea typeface="Roboto"/>
                <a:cs typeface="Roboto"/>
                <a:sym typeface="Roboto"/>
              </a:rPr>
              <a:t>, School of Physical Sciences, NISER Bhubaneswar</a:t>
            </a:r>
            <a:endParaRPr sz="1500">
              <a:solidFill>
                <a:schemeClr val="dk1"/>
              </a:solidFill>
              <a:latin typeface="Roboto"/>
              <a:ea typeface="Roboto"/>
              <a:cs typeface="Roboto"/>
              <a:sym typeface="Roboto"/>
            </a:endParaRPr>
          </a:p>
          <a:p>
            <a:pPr indent="0" lvl="0" marL="0" rtl="0" algn="l">
              <a:lnSpc>
                <a:spcPct val="90000"/>
              </a:lnSpc>
              <a:spcBef>
                <a:spcPts val="1000"/>
              </a:spcBef>
              <a:spcAft>
                <a:spcPts val="0"/>
              </a:spcAft>
              <a:buSzPts val="1800"/>
              <a:buNone/>
            </a:pPr>
            <a:r>
              <a:rPr lang="en-US" sz="1500">
                <a:solidFill>
                  <a:schemeClr val="dk1"/>
                </a:solidFill>
                <a:latin typeface="Roboto"/>
                <a:ea typeface="Roboto"/>
                <a:cs typeface="Roboto"/>
                <a:sym typeface="Roboto"/>
              </a:rPr>
              <a:t>Roddur Das</a:t>
            </a:r>
            <a:r>
              <a:rPr lang="en-US" sz="1500">
                <a:solidFill>
                  <a:schemeClr val="dk1"/>
                </a:solidFill>
                <a:latin typeface="Roboto"/>
                <a:ea typeface="Roboto"/>
                <a:cs typeface="Roboto"/>
                <a:sym typeface="Roboto"/>
              </a:rPr>
              <a:t>, School of Physical Sciences, NISER Bhubaneswar</a:t>
            </a:r>
            <a:endParaRPr sz="2000">
              <a:solidFill>
                <a:srgbClr val="888888"/>
              </a:solidFill>
            </a:endParaRPr>
          </a:p>
        </p:txBody>
      </p:sp>
      <p:sp>
        <p:nvSpPr>
          <p:cNvPr id="166" name="Google Shape;166;g25ace02ada9_0_59"/>
          <p:cNvSpPr txBox="1"/>
          <p:nvPr/>
        </p:nvSpPr>
        <p:spPr>
          <a:xfrm>
            <a:off x="3638550" y="238125"/>
            <a:ext cx="500062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5539C"/>
                </a:solidFill>
                <a:latin typeface="Arial"/>
                <a:ea typeface="Arial"/>
                <a:cs typeface="Arial"/>
                <a:sym typeface="Arial"/>
              </a:rPr>
              <a:t>Team</a:t>
            </a:r>
            <a:endParaRPr b="1" i="0" sz="2800" u="none" cap="none" strike="noStrike">
              <a:solidFill>
                <a:srgbClr val="05539C"/>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sp>
        <p:nvSpPr>
          <p:cNvPr id="171" name="Google Shape;171;g25ace02ada9_0_47"/>
          <p:cNvSpPr txBox="1"/>
          <p:nvPr/>
        </p:nvSpPr>
        <p:spPr>
          <a:xfrm>
            <a:off x="3638550" y="238125"/>
            <a:ext cx="5000625"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rgbClr val="05539C"/>
                </a:solidFill>
                <a:latin typeface="Arial"/>
                <a:ea typeface="Arial"/>
                <a:cs typeface="Arial"/>
                <a:sym typeface="Arial"/>
              </a:rPr>
              <a:t>Conclusion</a:t>
            </a:r>
            <a:endParaRPr b="1" i="0" sz="2800" u="none" cap="none" strike="noStrike">
              <a:solidFill>
                <a:srgbClr val="05539C"/>
              </a:solidFill>
              <a:latin typeface="Arial"/>
              <a:ea typeface="Arial"/>
              <a:cs typeface="Arial"/>
              <a:sym typeface="Arial"/>
            </a:endParaRPr>
          </a:p>
        </p:txBody>
      </p:sp>
      <p:sp>
        <p:nvSpPr>
          <p:cNvPr id="172" name="Google Shape;172;g25ace02ada9_0_47"/>
          <p:cNvSpPr txBox="1"/>
          <p:nvPr/>
        </p:nvSpPr>
        <p:spPr>
          <a:xfrm>
            <a:off x="275475" y="1253950"/>
            <a:ext cx="11664300" cy="53085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600"/>
              </a:spcBef>
              <a:spcAft>
                <a:spcPts val="0"/>
              </a:spcAft>
              <a:buClr>
                <a:schemeClr val="dk1"/>
              </a:buClr>
              <a:buSzPts val="1500"/>
              <a:buFont typeface="Roboto"/>
              <a:buChar char="●"/>
            </a:pPr>
            <a:r>
              <a:rPr lang="en-US" sz="1500">
                <a:solidFill>
                  <a:schemeClr val="dk1"/>
                </a:solidFill>
                <a:latin typeface="Roboto"/>
                <a:ea typeface="Roboto"/>
                <a:cs typeface="Roboto"/>
                <a:sym typeface="Roboto"/>
              </a:rPr>
              <a:t>Our Multisensor AI Diagnostic Platform addresses key clinical gaps empowering frontline providers with objective, rapid, and accurate skin diagnostics that go far beyond traditional visual inspection.</a:t>
            </a:r>
            <a:endParaRPr sz="1500">
              <a:solidFill>
                <a:schemeClr val="dk1"/>
              </a:solidFill>
              <a:latin typeface="Roboto"/>
              <a:ea typeface="Roboto"/>
              <a:cs typeface="Roboto"/>
              <a:sym typeface="Roboto"/>
            </a:endParaRPr>
          </a:p>
          <a:p>
            <a:pPr indent="0" lvl="0" marL="457200" rtl="0" algn="l">
              <a:lnSpc>
                <a:spcPct val="115000"/>
              </a:lnSpc>
              <a:spcBef>
                <a:spcPts val="600"/>
              </a:spcBef>
              <a:spcAft>
                <a:spcPts val="0"/>
              </a:spcAft>
              <a:buNone/>
            </a:pPr>
            <a:r>
              <a:t/>
            </a:r>
            <a:endParaRPr sz="1500">
              <a:solidFill>
                <a:schemeClr val="dk1"/>
              </a:solidFill>
              <a:latin typeface="Roboto"/>
              <a:ea typeface="Roboto"/>
              <a:cs typeface="Roboto"/>
              <a:sym typeface="Roboto"/>
            </a:endParaRPr>
          </a:p>
          <a:p>
            <a:pPr indent="-323850" lvl="0" marL="457200" rtl="0" algn="l">
              <a:lnSpc>
                <a:spcPct val="115000"/>
              </a:lnSpc>
              <a:spcBef>
                <a:spcPts val="600"/>
              </a:spcBef>
              <a:spcAft>
                <a:spcPts val="0"/>
              </a:spcAft>
              <a:buClr>
                <a:schemeClr val="dk1"/>
              </a:buClr>
              <a:buSzPts val="1500"/>
              <a:buFont typeface="Roboto"/>
              <a:buChar char="●"/>
            </a:pPr>
            <a:r>
              <a:rPr lang="en-US" sz="1500">
                <a:solidFill>
                  <a:schemeClr val="dk1"/>
                </a:solidFill>
                <a:latin typeface="Roboto"/>
                <a:ea typeface="Roboto"/>
                <a:cs typeface="Roboto"/>
                <a:sym typeface="Roboto"/>
              </a:rPr>
              <a:t>The solution is ultra-portable, affordable, and specifically designed for deployment in diverse care settings from rural clinics and Primary Health Centers to telemedicine platforms and specialist hospitals.</a:t>
            </a:r>
            <a:endParaRPr sz="1500">
              <a:solidFill>
                <a:schemeClr val="dk1"/>
              </a:solidFill>
              <a:latin typeface="Roboto"/>
              <a:ea typeface="Roboto"/>
              <a:cs typeface="Roboto"/>
              <a:sym typeface="Roboto"/>
            </a:endParaRPr>
          </a:p>
          <a:p>
            <a:pPr indent="0" lvl="0" marL="457200" rtl="0" algn="l">
              <a:lnSpc>
                <a:spcPct val="115000"/>
              </a:lnSpc>
              <a:spcBef>
                <a:spcPts val="600"/>
              </a:spcBef>
              <a:spcAft>
                <a:spcPts val="0"/>
              </a:spcAft>
              <a:buNone/>
            </a:pPr>
            <a:r>
              <a:t/>
            </a:r>
            <a:endParaRPr sz="1500">
              <a:solidFill>
                <a:schemeClr val="dk1"/>
              </a:solidFill>
              <a:latin typeface="Roboto"/>
              <a:ea typeface="Roboto"/>
              <a:cs typeface="Roboto"/>
              <a:sym typeface="Roboto"/>
            </a:endParaRPr>
          </a:p>
          <a:p>
            <a:pPr indent="-323850" lvl="0" marL="457200" rtl="0" algn="l">
              <a:lnSpc>
                <a:spcPct val="115000"/>
              </a:lnSpc>
              <a:spcBef>
                <a:spcPts val="600"/>
              </a:spcBef>
              <a:spcAft>
                <a:spcPts val="0"/>
              </a:spcAft>
              <a:buClr>
                <a:schemeClr val="dk1"/>
              </a:buClr>
              <a:buSzPts val="1500"/>
              <a:buFont typeface="Roboto"/>
              <a:buChar char="●"/>
            </a:pPr>
            <a:r>
              <a:rPr lang="en-US" sz="1500">
                <a:solidFill>
                  <a:schemeClr val="dk1"/>
                </a:solidFill>
                <a:latin typeface="Roboto"/>
                <a:ea typeface="Roboto"/>
                <a:cs typeface="Roboto"/>
                <a:sym typeface="Roboto"/>
              </a:rPr>
              <a:t>By reducing misdiagnosis, minimizing unnecessary antibiotic use, and providing actionable, explainable insights, we can significantly improve patient care and combat rising antimicrobial resistance globally.</a:t>
            </a:r>
            <a:endParaRPr sz="1500">
              <a:solidFill>
                <a:schemeClr val="dk1"/>
              </a:solidFill>
              <a:latin typeface="Roboto"/>
              <a:ea typeface="Roboto"/>
              <a:cs typeface="Roboto"/>
              <a:sym typeface="Roboto"/>
            </a:endParaRPr>
          </a:p>
          <a:p>
            <a:pPr indent="0" lvl="0" marL="457200" rtl="0" algn="l">
              <a:lnSpc>
                <a:spcPct val="115000"/>
              </a:lnSpc>
              <a:spcBef>
                <a:spcPts val="600"/>
              </a:spcBef>
              <a:spcAft>
                <a:spcPts val="0"/>
              </a:spcAft>
              <a:buNone/>
            </a:pPr>
            <a:r>
              <a:t/>
            </a:r>
            <a:endParaRPr sz="1500">
              <a:solidFill>
                <a:schemeClr val="dk1"/>
              </a:solidFill>
              <a:latin typeface="Roboto"/>
              <a:ea typeface="Roboto"/>
              <a:cs typeface="Roboto"/>
              <a:sym typeface="Roboto"/>
            </a:endParaRPr>
          </a:p>
          <a:p>
            <a:pPr indent="-323850" lvl="0" marL="457200" rtl="0" algn="l">
              <a:lnSpc>
                <a:spcPct val="115000"/>
              </a:lnSpc>
              <a:spcBef>
                <a:spcPts val="600"/>
              </a:spcBef>
              <a:spcAft>
                <a:spcPts val="0"/>
              </a:spcAft>
              <a:buClr>
                <a:schemeClr val="dk1"/>
              </a:buClr>
              <a:buSzPts val="1500"/>
              <a:buFont typeface="Roboto"/>
              <a:buChar char="●"/>
            </a:pPr>
            <a:r>
              <a:rPr lang="en-US" sz="1500">
                <a:solidFill>
                  <a:schemeClr val="dk1"/>
                </a:solidFill>
                <a:latin typeface="Roboto"/>
                <a:ea typeface="Roboto"/>
                <a:cs typeface="Roboto"/>
                <a:sym typeface="Roboto"/>
              </a:rPr>
              <a:t>With robust AI-powered analysis, seamless workflow integration, and focus on usability, our platform is poised to capture high-growth opportunities in the global and Indian skin diagnostics markets.</a:t>
            </a:r>
            <a:endParaRPr sz="1500">
              <a:solidFill>
                <a:schemeClr val="dk1"/>
              </a:solidFill>
              <a:latin typeface="Roboto"/>
              <a:ea typeface="Roboto"/>
              <a:cs typeface="Roboto"/>
              <a:sym typeface="Roboto"/>
            </a:endParaRPr>
          </a:p>
          <a:p>
            <a:pPr indent="0" lvl="0" marL="457200" rtl="0" algn="l">
              <a:lnSpc>
                <a:spcPct val="115000"/>
              </a:lnSpc>
              <a:spcBef>
                <a:spcPts val="600"/>
              </a:spcBef>
              <a:spcAft>
                <a:spcPts val="0"/>
              </a:spcAft>
              <a:buNone/>
            </a:pPr>
            <a:r>
              <a:t/>
            </a:r>
            <a:endParaRPr sz="1500">
              <a:solidFill>
                <a:schemeClr val="dk1"/>
              </a:solidFill>
              <a:latin typeface="Roboto"/>
              <a:ea typeface="Roboto"/>
              <a:cs typeface="Roboto"/>
              <a:sym typeface="Roboto"/>
            </a:endParaRPr>
          </a:p>
          <a:p>
            <a:pPr indent="-323850" lvl="0" marL="457200" rtl="0" algn="l">
              <a:lnSpc>
                <a:spcPct val="115000"/>
              </a:lnSpc>
              <a:spcBef>
                <a:spcPts val="600"/>
              </a:spcBef>
              <a:spcAft>
                <a:spcPts val="0"/>
              </a:spcAft>
              <a:buClr>
                <a:schemeClr val="dk1"/>
              </a:buClr>
              <a:buSzPts val="1500"/>
              <a:buFont typeface="Roboto"/>
              <a:buChar char="●"/>
            </a:pPr>
            <a:r>
              <a:rPr lang="en-US" sz="1500">
                <a:solidFill>
                  <a:schemeClr val="dk1"/>
                </a:solidFill>
                <a:latin typeface="Roboto"/>
                <a:ea typeface="Roboto"/>
                <a:cs typeface="Roboto"/>
                <a:sym typeface="Roboto"/>
              </a:rPr>
              <a:t>With a clear project roadmap and milestones, partnering with healthcare stakeholders we look forward to revolutionize point-of-care skin diagnostics and promote healthier communities.</a:t>
            </a:r>
            <a:endParaRPr sz="1500">
              <a:solidFill>
                <a:schemeClr val="dk1"/>
              </a:solidFill>
              <a:latin typeface="Roboto"/>
              <a:ea typeface="Roboto"/>
              <a:cs typeface="Roboto"/>
              <a:sym typeface="Roboto"/>
            </a:endParaRPr>
          </a:p>
          <a:p>
            <a:pPr indent="0" lvl="0" marL="0" rtl="0" algn="l">
              <a:spcBef>
                <a:spcPts val="600"/>
              </a:spcBef>
              <a:spcAft>
                <a:spcPts val="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pic>
        <p:nvPicPr>
          <p:cNvPr id="177" name="Google Shape;177;p17"/>
          <p:cNvPicPr preferRelativeResize="0"/>
          <p:nvPr/>
        </p:nvPicPr>
        <p:blipFill rotWithShape="1">
          <a:blip r:embed="rId3">
            <a:alphaModFix/>
          </a:blip>
          <a:srcRect b="0" l="0" r="0" t="0"/>
          <a:stretch/>
        </p:blipFill>
        <p:spPr>
          <a:xfrm>
            <a:off x="2207179" y="1318200"/>
            <a:ext cx="7498389" cy="42215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2021-07-30T08:41:46Z</dcterms:created>
  <dc:creator>Admin</dc:creator>
</cp:coreProperties>
</file>